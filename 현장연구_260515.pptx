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9"/>
  </p:notesMasterIdLst>
  <p:sldIdLst>
    <p:sldId id="256" r:id="rId2"/>
    <p:sldId id="512" r:id="rId3"/>
    <p:sldId id="513" r:id="rId4"/>
    <p:sldId id="530" r:id="rId5"/>
    <p:sldId id="515" r:id="rId6"/>
    <p:sldId id="528" r:id="rId7"/>
    <p:sldId id="533" r:id="rId8"/>
    <p:sldId id="534" r:id="rId9"/>
    <p:sldId id="535" r:id="rId10"/>
    <p:sldId id="536" r:id="rId11"/>
    <p:sldId id="539" r:id="rId12"/>
    <p:sldId id="538" r:id="rId13"/>
    <p:sldId id="537" r:id="rId14"/>
    <p:sldId id="529" r:id="rId15"/>
    <p:sldId id="418" r:id="rId16"/>
    <p:sldId id="459" r:id="rId17"/>
    <p:sldId id="34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E4E4"/>
    <a:srgbClr val="EF4030"/>
    <a:srgbClr val="029AD9"/>
    <a:srgbClr val="A7A9AC"/>
    <a:srgbClr val="22A7DE"/>
    <a:srgbClr val="FFF4E5"/>
    <a:srgbClr val="FFE4BD"/>
    <a:srgbClr val="FFC979"/>
    <a:srgbClr val="FFB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0" autoAdjust="0"/>
    <p:restoredTop sz="97135" autoAdjust="0"/>
  </p:normalViewPr>
  <p:slideViewPr>
    <p:cSldViewPr snapToGrid="0">
      <p:cViewPr varScale="1">
        <p:scale>
          <a:sx n="84" d="100"/>
          <a:sy n="84" d="100"/>
        </p:scale>
        <p:origin x="155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9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60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6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8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6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55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85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18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0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57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26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66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55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7.png"/><Relationship Id="rId5" Type="http://schemas.microsoft.com/office/2007/relationships/media" Target="../media/media3.mp4"/><Relationship Id="rId10" Type="http://schemas.openxmlformats.org/officeDocument/2006/relationships/image" Target="../media/image6.png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2026-04-10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Shin 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986012" y="3167390"/>
            <a:ext cx="1164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02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끊는가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A2D6-3373-C10E-F372-712849393EA8}"/>
              </a:ext>
            </a:extLst>
          </p:cNvPr>
          <p:cNvSpPr txBox="1"/>
          <p:nvPr/>
        </p:nvSpPr>
        <p:spPr>
          <a:xfrm>
            <a:off x="309595" y="1522138"/>
            <a:ext cx="8454395" cy="4110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실험 목적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빠른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느린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구성됨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 고수준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제공하지만 계산 비용이 큼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따라서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항상 필요한지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또는 초반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분기점에서만 필요한지 확인해야 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핵심 질문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멈춰도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routine control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계속 수행할 수 있는가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성능이 무너진다면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어느 시점과 어떤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무너지는가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연구적 의미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dual-process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구조가 단순한 비유가 아니라 실제로 작동하는지 검증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로봇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필요한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최소 갱신 빈도를 측정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실제로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task-relevant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정보를 제공하는지 분석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64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끊는가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A2D6-3373-C10E-F372-712849393EA8}"/>
              </a:ext>
            </a:extLst>
          </p:cNvPr>
          <p:cNvSpPr txBox="1"/>
          <p:nvPr/>
        </p:nvSpPr>
        <p:spPr>
          <a:xfrm>
            <a:off x="309595" y="1522138"/>
            <a:ext cx="8454395" cy="4848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실험 방식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System-2 Update Budget Ablation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마다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 횟수를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/ 2 / 5 / 10 / full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제한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System-2 Update Dropout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 시점마다 일정 확률로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호출을 생략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분석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전달되는 정보 채널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갱신을 줄였을 때 성능이 유지되면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오래 재사용 가능한 정보를 담고 있다는 뜻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특정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에서만 성능이 떨어지면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정보에 더 의존한다는 뜻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기대 결론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적은 갱신으로 성능 유지→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주로 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 장면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/task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grounding 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계속 갱신해야 성능 유지→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지속적 의사결정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보정 역할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64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System-2 Update Count Ablation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A2C1FD-8AB5-5C18-FAF8-C033D1171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54" y="1534299"/>
            <a:ext cx="6701816" cy="22951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3AAF02-2F07-EF1D-D13B-80F069DF5A2E}"/>
              </a:ext>
            </a:extLst>
          </p:cNvPr>
          <p:cNvSpPr txBox="1"/>
          <p:nvPr/>
        </p:nvSpPr>
        <p:spPr>
          <a:xfrm>
            <a:off x="309595" y="4157424"/>
            <a:ext cx="8454395" cy="152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전체에서 계속 필요한 것은 아니며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약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5~10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회 갱신만으로 대부분의 성능을 유지할 수 있음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다만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 횟수에 민감해서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목표 위치 정보가 중요한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에서는 일정 수준 이상의 갱신이 필요함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94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Probabilistic System-2 Update Dropout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5CCFAA2-6108-F8E4-907B-08C94739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61" y="1618209"/>
            <a:ext cx="6789202" cy="2345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A3344D-C3DB-16FE-095B-B67940D9B5EA}"/>
              </a:ext>
            </a:extLst>
          </p:cNvPr>
          <p:cNvSpPr txBox="1"/>
          <p:nvPr/>
        </p:nvSpPr>
        <p:spPr>
          <a:xfrm>
            <a:off x="309595" y="4157424"/>
            <a:ext cx="8454395" cy="1155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매번 갱신될 필요는 없으며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확률적으로 상당히 많이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해도 성능은 유지됨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하지만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완전히 멈추면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특히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목표 위치 정보 유지가 어려워져 성능이 크게 하락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60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diff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A053346-A8BB-8C7D-10B8-5C1D4D9B7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13" y="1783786"/>
            <a:ext cx="7565098" cy="28964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D8861B-BBEF-E0BB-B5F9-14D908D4FE11}"/>
              </a:ext>
            </a:extLst>
          </p:cNvPr>
          <p:cNvSpPr txBox="1"/>
          <p:nvPr/>
        </p:nvSpPr>
        <p:spPr>
          <a:xfrm>
            <a:off x="309595" y="4884408"/>
            <a:ext cx="8454395" cy="78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줄이거나 멈춰도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spatial, long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거의 차이가 없음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반면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updates_1/2, stop_1p0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큰 성능 하락이 발생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24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diff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E030591-DCFB-3B38-71EB-5B2C43779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89" y="1611690"/>
            <a:ext cx="8235280" cy="29422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9A4BB6-E622-D821-B650-FB63FFB0FE89}"/>
              </a:ext>
            </a:extLst>
          </p:cNvPr>
          <p:cNvSpPr txBox="1"/>
          <p:nvPr/>
        </p:nvSpPr>
        <p:spPr>
          <a:xfrm>
            <a:off x="309595" y="4884408"/>
            <a:ext cx="8454395" cy="78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libero_goal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성능 하락은 전체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균일하게 발생한 것이 아니라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집중됨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특히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 the bowl on the stove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 the bowl on top of the cabinet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중단에 민감함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13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Libero-goal fail task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task9_ep45_init45_success">
            <a:hlinkClick r:id="" action="ppaction://media"/>
            <a:extLst>
              <a:ext uri="{FF2B5EF4-FFF2-40B4-BE49-F238E27FC236}">
                <a16:creationId xmlns:a16="http://schemas.microsoft.com/office/drawing/2014/main" id="{1CAC9FAF-85AF-FB47-8D8D-A5A68A5C43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00236" y="2517171"/>
            <a:ext cx="2515114" cy="2515112"/>
          </a:xfrm>
          <a:prstGeom prst="rect">
            <a:avLst/>
          </a:prstGeom>
        </p:spPr>
      </p:pic>
      <p:pic>
        <p:nvPicPr>
          <p:cNvPr id="15" name="task4_ep20_init20_success">
            <a:hlinkClick r:id="" action="ppaction://media"/>
            <a:extLst>
              <a:ext uri="{FF2B5EF4-FFF2-40B4-BE49-F238E27FC236}">
                <a16:creationId xmlns:a16="http://schemas.microsoft.com/office/drawing/2014/main" id="{9BCE5091-0757-0E0D-A267-9057E6F6976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310505" y="2517171"/>
            <a:ext cx="2515113" cy="2515111"/>
          </a:xfrm>
          <a:prstGeom prst="rect">
            <a:avLst/>
          </a:prstGeom>
        </p:spPr>
      </p:pic>
      <p:pic>
        <p:nvPicPr>
          <p:cNvPr id="16" name="task1_ep0_init0_success">
            <a:hlinkClick r:id="" action="ppaction://media"/>
            <a:extLst>
              <a:ext uri="{FF2B5EF4-FFF2-40B4-BE49-F238E27FC236}">
                <a16:creationId xmlns:a16="http://schemas.microsoft.com/office/drawing/2014/main" id="{27DFEC31-C4ED-F838-4D90-ACED44276A17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88577" y="2517171"/>
            <a:ext cx="2515112" cy="2515112"/>
          </a:xfrm>
          <a:prstGeom prst="rect">
            <a:avLst/>
          </a:prstGeom>
        </p:spPr>
      </p:pic>
      <p:sp>
        <p:nvSpPr>
          <p:cNvPr id="17" name="모서리가 둥근 직사각형 11">
            <a:extLst>
              <a:ext uri="{FF2B5EF4-FFF2-40B4-BE49-F238E27FC236}">
                <a16:creationId xmlns:a16="http://schemas.microsoft.com/office/drawing/2014/main" id="{C35F7ED9-3958-3872-DEBA-0CCB463D6311}"/>
              </a:ext>
            </a:extLst>
          </p:cNvPr>
          <p:cNvSpPr/>
          <p:nvPr/>
        </p:nvSpPr>
        <p:spPr>
          <a:xfrm>
            <a:off x="588577" y="2098758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bowl on the stove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" name="모서리가 둥근 직사각형 11">
            <a:extLst>
              <a:ext uri="{FF2B5EF4-FFF2-40B4-BE49-F238E27FC236}">
                <a16:creationId xmlns:a16="http://schemas.microsoft.com/office/drawing/2014/main" id="{92CFAD76-853C-3D26-882A-53CB4A317072}"/>
              </a:ext>
            </a:extLst>
          </p:cNvPr>
          <p:cNvSpPr/>
          <p:nvPr/>
        </p:nvSpPr>
        <p:spPr>
          <a:xfrm>
            <a:off x="3310506" y="2117061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bowl on top of the cabinet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모서리가 둥근 직사각형 11">
            <a:extLst>
              <a:ext uri="{FF2B5EF4-FFF2-40B4-BE49-F238E27FC236}">
                <a16:creationId xmlns:a16="http://schemas.microsoft.com/office/drawing/2014/main" id="{D6E0BD91-91D3-C66A-0CCE-B459268F0C8C}"/>
              </a:ext>
            </a:extLst>
          </p:cNvPr>
          <p:cNvSpPr/>
          <p:nvPr/>
        </p:nvSpPr>
        <p:spPr>
          <a:xfrm>
            <a:off x="6000236" y="2098758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wine bottle on the rack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76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83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Libero-goal fail case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모서리가 둥근 직사각형 11">
            <a:extLst>
              <a:ext uri="{FF2B5EF4-FFF2-40B4-BE49-F238E27FC236}">
                <a16:creationId xmlns:a16="http://schemas.microsoft.com/office/drawing/2014/main" id="{C35F7ED9-3958-3872-DEBA-0CCB463D6311}"/>
              </a:ext>
            </a:extLst>
          </p:cNvPr>
          <p:cNvSpPr/>
          <p:nvPr/>
        </p:nvSpPr>
        <p:spPr>
          <a:xfrm>
            <a:off x="588577" y="2098758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bowl on the stove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8" name="모서리가 둥근 직사각형 11">
            <a:extLst>
              <a:ext uri="{FF2B5EF4-FFF2-40B4-BE49-F238E27FC236}">
                <a16:creationId xmlns:a16="http://schemas.microsoft.com/office/drawing/2014/main" id="{92CFAD76-853C-3D26-882A-53CB4A317072}"/>
              </a:ext>
            </a:extLst>
          </p:cNvPr>
          <p:cNvSpPr/>
          <p:nvPr/>
        </p:nvSpPr>
        <p:spPr>
          <a:xfrm>
            <a:off x="3310506" y="2117061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bowl on top of the cabinet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모서리가 둥근 직사각형 11">
            <a:extLst>
              <a:ext uri="{FF2B5EF4-FFF2-40B4-BE49-F238E27FC236}">
                <a16:creationId xmlns:a16="http://schemas.microsoft.com/office/drawing/2014/main" id="{D6E0BD91-91D3-C66A-0CCE-B459268F0C8C}"/>
              </a:ext>
            </a:extLst>
          </p:cNvPr>
          <p:cNvSpPr/>
          <p:nvPr/>
        </p:nvSpPr>
        <p:spPr>
          <a:xfrm>
            <a:off x="6000236" y="2098758"/>
            <a:ext cx="2515112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put the wine bottle on the rack</a:t>
            </a:r>
            <a:endParaRPr lang="ko-KR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0" name="그림 19" descr="실내, 벽, 테이블, 화장실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C7DC49-ADED-9C09-4005-2A8A8F204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236" y="2517171"/>
            <a:ext cx="2515110" cy="2515110"/>
          </a:xfrm>
          <a:prstGeom prst="rect">
            <a:avLst/>
          </a:prstGeom>
        </p:spPr>
      </p:pic>
      <p:pic>
        <p:nvPicPr>
          <p:cNvPr id="23" name="그림 22" descr="현미경, 실내, 과학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37212F-D7C6-4A2C-83C2-3FF6F6EE3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509" y="2548403"/>
            <a:ext cx="2515109" cy="2515109"/>
          </a:xfrm>
          <a:prstGeom prst="rect">
            <a:avLst/>
          </a:prstGeom>
        </p:spPr>
      </p:pic>
      <p:pic>
        <p:nvPicPr>
          <p:cNvPr id="26" name="그림 25" descr="실내, 테이블, 현미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21E091-C3FD-E277-5391-7B941A2A21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77" y="2517173"/>
            <a:ext cx="2515108" cy="251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7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Step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diff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graph same case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 descr="텍스트, 도표, 그래프, 지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85CAFF0-1063-B835-DF7C-1E4B15961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94" y="1996681"/>
            <a:ext cx="8346996" cy="375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65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Fully decoupled experiment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Step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diff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graph different case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 descr="텍스트, 도표, 그래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268C45-D24A-9458-90D1-DB2BB83D3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2" y="1463729"/>
            <a:ext cx="8053536" cy="36240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EF928C-40BE-8F15-3C9E-EF3EC7BE3785}"/>
              </a:ext>
            </a:extLst>
          </p:cNvPr>
          <p:cNvSpPr txBox="1"/>
          <p:nvPr/>
        </p:nvSpPr>
        <p:spPr>
          <a:xfrm>
            <a:off x="309595" y="5157024"/>
            <a:ext cx="8454395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Full: 100%, 10: 100%, 5: 100%, 2: 25%, 1: 20%</a:t>
            </a:r>
          </a:p>
        </p:txBody>
      </p:sp>
    </p:spTree>
    <p:extLst>
      <p:ext uri="{BB962C8B-B14F-4D97-AF65-F5344CB8AC3E}">
        <p14:creationId xmlns:p14="http://schemas.microsoft.com/office/powerpoint/2010/main" val="211567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Gr00t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platform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A2D6-3373-C10E-F372-712849393EA8}"/>
              </a:ext>
            </a:extLst>
          </p:cNvPr>
          <p:cNvSpPr txBox="1"/>
          <p:nvPr/>
        </p:nvSpPr>
        <p:spPr>
          <a:xfrm>
            <a:off x="309595" y="1522138"/>
            <a:ext cx="8454395" cy="411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관찰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평균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0.998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멈춰도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 표현은 거의 유지됨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의미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실패 원인은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전체가 무너진 것이 아님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대부분의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scene/task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정보는 유지됨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하지만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위치와 관련된 작은 차이가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에는 크게 작용할 수 있음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해석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object, spatial 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높은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만으로 충분히 버팀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task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정확한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정보가 중요해서 작은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차이에도 민감함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2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468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Gr00t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platform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A2D6-3373-C10E-F372-712849393EA8}"/>
              </a:ext>
            </a:extLst>
          </p:cNvPr>
          <p:cNvSpPr txBox="1"/>
          <p:nvPr/>
        </p:nvSpPr>
        <p:spPr>
          <a:xfrm>
            <a:off x="309595" y="1522138"/>
            <a:ext cx="8454395" cy="4848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N1.7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구조 유지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weight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그대로 활용가능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하게 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동작시키고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vision token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하게 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받도록하면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최소 수정으로 구현 가능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dinov3_small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결합하여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 받도록 구현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Dinov3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나온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token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들을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출력에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 token, dino token]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token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은 개수가 같으므로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vision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간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projection?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Cosmos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layer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사용함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Dinov3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layer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사용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Cosmos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사용되는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backbone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사용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ensemble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87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62444" y="3075057"/>
            <a:ext cx="24112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</a:t>
            </a:r>
            <a:r>
              <a:rPr lang="ko-KR" altLang="en-US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dataset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15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Training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F6456-ADC5-1AC1-8492-43102CFECF57}"/>
              </a:ext>
            </a:extLst>
          </p:cNvPr>
          <p:cNvSpPr txBox="1"/>
          <p:nvPr/>
        </p:nvSpPr>
        <p:spPr>
          <a:xfrm>
            <a:off x="309595" y="1522138"/>
            <a:ext cx="8454395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가지 버전으로 사용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긴 버전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짧은 버전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pick up the dishcloth on the induction cooktop at the left of the table using the left hand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>
                <a:solidFill>
                  <a:srgbClr val="0F0F0F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hand the dishcloth over to the right hand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>
                <a:solidFill>
                  <a:srgbClr val="0F0F0F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and wipe the lower center area of the table using the right hand.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up the dishcloth and wipe the table.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114 &gt; 13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 n 1.7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학습 중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윤우한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교수님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데이터셋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학습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B300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Dpact_dinov3_unfreeze_chunk_size_30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1,440 (180 * 8)</a:t>
            </a:r>
          </a:p>
        </p:txBody>
      </p:sp>
    </p:spTree>
    <p:extLst>
      <p:ext uri="{BB962C8B-B14F-4D97-AF65-F5344CB8AC3E}">
        <p14:creationId xmlns:p14="http://schemas.microsoft.com/office/powerpoint/2010/main" val="1157553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17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10482</TotalTime>
  <Words>781</Words>
  <Application>Microsoft Office PowerPoint</Application>
  <PresentationFormat>화면 슬라이드 쇼(4:3)</PresentationFormat>
  <Paragraphs>132</Paragraphs>
  <Slides>17</Slides>
  <Notes>13</Notes>
  <HiddenSlides>0</HiddenSlides>
  <MMClips>3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Times New Roman</vt:lpstr>
      <vt:lpstr>Calibri Light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967</cp:revision>
  <dcterms:created xsi:type="dcterms:W3CDTF">2023-11-18T11:43:47Z</dcterms:created>
  <dcterms:modified xsi:type="dcterms:W3CDTF">2026-05-15T04:54:49Z</dcterms:modified>
</cp:coreProperties>
</file>