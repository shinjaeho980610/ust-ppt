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7"/>
  </p:notesMasterIdLst>
  <p:sldIdLst>
    <p:sldId id="256" r:id="rId2"/>
    <p:sldId id="521" r:id="rId3"/>
    <p:sldId id="522" r:id="rId4"/>
    <p:sldId id="535" r:id="rId5"/>
    <p:sldId id="534" r:id="rId6"/>
    <p:sldId id="540" r:id="rId7"/>
    <p:sldId id="537" r:id="rId8"/>
    <p:sldId id="538" r:id="rId9"/>
    <p:sldId id="536" r:id="rId10"/>
    <p:sldId id="539" r:id="rId11"/>
    <p:sldId id="525" r:id="rId12"/>
    <p:sldId id="524" r:id="rId13"/>
    <p:sldId id="418" r:id="rId14"/>
    <p:sldId id="519" r:id="rId15"/>
    <p:sldId id="526" r:id="rId16"/>
    <p:sldId id="523" r:id="rId17"/>
    <p:sldId id="531" r:id="rId18"/>
    <p:sldId id="532" r:id="rId19"/>
    <p:sldId id="528" r:id="rId20"/>
    <p:sldId id="529" r:id="rId21"/>
    <p:sldId id="530" r:id="rId22"/>
    <p:sldId id="533" r:id="rId23"/>
    <p:sldId id="541" r:id="rId24"/>
    <p:sldId id="542" r:id="rId25"/>
    <p:sldId id="348" r:id="rId26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AD9"/>
    <a:srgbClr val="E6E5E4"/>
    <a:srgbClr val="FFC979"/>
    <a:srgbClr val="EF4030"/>
    <a:srgbClr val="FFFFFF"/>
    <a:srgbClr val="A7A9AC"/>
    <a:srgbClr val="22A7DE"/>
    <a:srgbClr val="FFF4E5"/>
    <a:srgbClr val="FFE4BD"/>
    <a:srgbClr val="FFB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3" autoAdjust="0"/>
    <p:restoredTop sz="81019" autoAdjust="0"/>
  </p:normalViewPr>
  <p:slideViewPr>
    <p:cSldViewPr snapToGrid="0">
      <p:cViewPr>
        <p:scale>
          <a:sx n="66" d="100"/>
          <a:sy n="66" d="100"/>
        </p:scale>
        <p:origin x="2082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54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63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28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97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08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33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73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74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35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85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02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40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59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13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45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14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83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897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5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39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35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45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2026-07-07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DAVIAN-Robotics/robocasa-MG_300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12.20188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arxiv.org/pdf/2505.21432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2026-07-07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26612" y="3167390"/>
            <a:ext cx="1682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08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26F390-B52B-8057-3EC6-1E0EA8A9D428}"/>
                  </a:ext>
                </a:extLst>
              </p:cNvPr>
              <p:cNvSpPr txBox="1"/>
              <p:nvPr/>
            </p:nvSpPr>
            <p:spPr>
              <a:xfrm>
                <a:off x="392749" y="1535779"/>
                <a:ext cx="8350625" cy="4848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Web-data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를 학습을 위해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B-300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서버 스토리지로 이동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(28TB)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real (gr00t style-lerobotv2.0+modality.json)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galaxea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226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tasks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22,515 episodes, 536.7 hours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2.8TB</a:t>
                </a:r>
              </a:p>
              <a:p>
                <a:pPr marL="2114550" lvl="4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동영상 해상도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1280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720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15fps 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통일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Dexora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206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tasks (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airbot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 +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dexora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202)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19,680 episodes, 73.6 hours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224GB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 fps 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통일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26F390-B52B-8057-3EC6-1E0EA8A9D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9" y="1535779"/>
                <a:ext cx="8350625" cy="4848763"/>
              </a:xfrm>
              <a:prstGeom prst="rect">
                <a:avLst/>
              </a:prstGeom>
              <a:blipFill>
                <a:blip r:embed="rId3"/>
                <a:stretch>
                  <a:fillRect l="-292" b="-7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94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92749" y="1535779"/>
            <a:ext cx="8350625" cy="4479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Web-data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학습을 위해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B-300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서버 스토리지로 이동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(28TB)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real (gr00t style-lerobotv2.0+modality.json)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open_x_embodiment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(droid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포함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 types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Kuka,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panda,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959,560 episodes, 1,672 hours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589GB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2~30fps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혼합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Egodex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part (train 5, test 1)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318,082 episodes, 732.5hours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30fps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통일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6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92749" y="1535779"/>
            <a:ext cx="8350625" cy="4479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Web-data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학습을 위해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B-300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서버 스토리지로 이동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(28TB)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real (gr00t style-lerobotv2.0+modality.json)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unitree WBT dataset (G1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전신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15tasks (task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중복 있음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4,856episodes, 34.26hours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200GB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30fps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Unitree g1 dataset - old (G1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상체만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일부는 전신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올해초에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51task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 대해 다운 받았었음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다운 당시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정도가 비디오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잘못 저장되어 다운되어 처리함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추가된 데이터가 있어서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비디오처리를 포함해서 다운 후 업로드예정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6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92749" y="1535779"/>
            <a:ext cx="8350625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Web-data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학습을 위해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B-300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서버 스토리지로 이동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(28TB)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real (gr00t style-lerobotv2.0+modality.json)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XRZero-G0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https://huggingface.co/datasets/x-square-robot/XRZero-G0-3K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풀버전 공개 안됨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(subset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일부가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 올라옴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tasks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2,002episodes, 4.3hours 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15GB, 30fps</a:t>
            </a:r>
          </a:p>
        </p:txBody>
      </p:sp>
    </p:spTree>
    <p:extLst>
      <p:ext uri="{BB962C8B-B14F-4D97-AF65-F5344CB8AC3E}">
        <p14:creationId xmlns:p14="http://schemas.microsoft.com/office/powerpoint/2010/main" val="3496540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92749" y="1535779"/>
            <a:ext cx="8350625" cy="411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Web-data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학습을 위해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B-300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서버 스토리지로 이동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(28TB)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real (gr00t style-lerobotv2.0+modality.json)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Humanoid_everyday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247tasks (task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짧음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초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~15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초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4,064episodes, 16.47hours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3.9GB, 30fps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247tasks (task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짧음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초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~15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초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4,885episodes, 15.37hours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3.7GB, 30fps</a:t>
            </a:r>
          </a:p>
        </p:txBody>
      </p:sp>
    </p:spTree>
    <p:extLst>
      <p:ext uri="{BB962C8B-B14F-4D97-AF65-F5344CB8AC3E}">
        <p14:creationId xmlns:p14="http://schemas.microsoft.com/office/powerpoint/2010/main" val="51529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92749" y="1535779"/>
            <a:ext cx="8350625" cy="411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Web-data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학습을 위해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B-300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서버 스토리지로 이동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(28TB)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real (gr00t style-lerobotv2.0+modality.json)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egoexo4d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egoexo4d_egopose_body17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tasks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834episodes, 1.67hours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5.84GB, 30fps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egoexo4d_egopose_hand42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tasks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 episodes, 0.26hours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8.6GB, 30fps</a:t>
            </a:r>
          </a:p>
        </p:txBody>
      </p:sp>
    </p:spTree>
    <p:extLst>
      <p:ext uri="{BB962C8B-B14F-4D97-AF65-F5344CB8AC3E}">
        <p14:creationId xmlns:p14="http://schemas.microsoft.com/office/powerpoint/2010/main" val="712502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92749" y="1535779"/>
            <a:ext cx="8350625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Web-data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학습을 위해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B-300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서버 스토리지로 이동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(28TB)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sim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robocasa365_mimicgen3000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mimicgen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궤적 포함 데이터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mimicgen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궤적만 있는 데이터인지 확인 필요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https://huggingface.co/datasets/DAVIAN-Robotics/robocasa-MG_3000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70,513 episodes, 272.7 hours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101GB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fps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robocasa_tabletop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tasks,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도 다운받았는데 중복이어서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삭제 예정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241,450 episodes, 841.3 hours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395GB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20fps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통일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035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92749" y="1535779"/>
            <a:ext cx="8350625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용량문제로 다운로드 받지 못함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Humanoids-in-the-Wild 500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10TB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원본 데이터셋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 용 양식으로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 필요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저장공간 부족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잔여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스토리지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14TB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AgiBot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AgiBotWorld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-Alpha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 tasks, 595 hours, 9.66TB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AgiBotWorld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-Beta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를 포함하는지 확인 필요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217 tasks, 2976 hours, 48.1TB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AgiBotWorld2026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23tasks,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9.36TB</a:t>
            </a:r>
          </a:p>
        </p:txBody>
      </p:sp>
    </p:spTree>
    <p:extLst>
      <p:ext uri="{BB962C8B-B14F-4D97-AF65-F5344CB8AC3E}">
        <p14:creationId xmlns:p14="http://schemas.microsoft.com/office/powerpoint/2010/main" val="115512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24679" y="1453956"/>
            <a:ext cx="8350625" cy="337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VQA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Robointer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Robo2VLM,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RoboVQA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Roboafford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erqa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general_vqa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multihopspatial</a:t>
            </a:r>
            <a:endParaRPr lang="en-US" altLang="ko-KR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B300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starvla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기반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구현에 문제가 있음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 pretrain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먼저 수행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Multi-dataset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학습을 위한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파일 업로드 중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유철환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박사님께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계정전달 후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VLM pretrain (saber_10k,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spatial_temporal_reasoning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sunrgbd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ych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데이터셋도 현재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B300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으로 옮겨야 함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Starvla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학습용으로 양식 변환 중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83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web-data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24679" y="1557373"/>
            <a:ext cx="8350625" cy="300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QwenVL3.5-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９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ko-KR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ｂａｓｅ로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사용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결합 방식을 확정 짓지 못함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만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하여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저장해 두었다가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결합방식확정 후 불러와서 사용하는 식으로 진행해야 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곧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B300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서버가 초기화되므로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system2 &amp; system1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결합 확정 후 학습은 느림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Calvin, </a:t>
            </a:r>
            <a:r>
              <a:rPr lang="en-US" altLang="ko-KR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RoboTwin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simpler-env </a:t>
            </a:r>
            <a:r>
              <a:rPr lang="ko-KR" alt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등의 데이터도 수집해서 평가환경 구축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Robocasa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-tabletop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평가환경 설치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914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939" y="3167390"/>
            <a:ext cx="1882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ko-KR" altLang="en-US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13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91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BFA1E7-B7DF-8822-4856-0805B2850D93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  <a:endParaRPr lang="ko-KR" altLang="en-US" sz="2400" b="1" dirty="0" err="1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9576017-0244-5D11-B0B0-B74CF782AC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402443" y="4963668"/>
            <a:ext cx="516586" cy="3878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13C830-1AB3-71DB-6646-C0C83A06D8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402443" y="3786598"/>
            <a:ext cx="516586" cy="38786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DD6D973-BC08-D261-C091-ADD48B49FB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402443" y="3317161"/>
            <a:ext cx="516586" cy="3878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6E3D2E2-7E3A-AED1-9BFE-958F8C741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402443" y="4413934"/>
            <a:ext cx="516588" cy="38193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5CEC436-4C35-73E3-7A60-BE1638529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368797" y="5032885"/>
            <a:ext cx="516586" cy="3878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25793AD-C963-BA73-A578-77A6FF866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368797" y="3855815"/>
            <a:ext cx="516586" cy="38786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46C3D97-C32D-9AEA-E13D-EABEC3ED83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368797" y="3386378"/>
            <a:ext cx="516586" cy="38786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AB46CA-2A12-F2EE-E699-DBC911127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368797" y="4483151"/>
            <a:ext cx="516588" cy="38193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17756F9-CE0A-B675-994A-E20CF642B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303483" y="5102102"/>
            <a:ext cx="516586" cy="38786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8FAF57E-632F-87EB-12E1-7D3283F727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303483" y="3925032"/>
            <a:ext cx="516586" cy="38786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C0212E3-64DF-0777-BE63-F25AE19E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303483" y="3455595"/>
            <a:ext cx="516586" cy="38786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DB038A9-F6C2-0847-6D9B-4746D048C9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303483" y="4552368"/>
            <a:ext cx="516588" cy="38193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8DDE672-F045-960D-BB6C-AA25B4514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269837" y="5163723"/>
            <a:ext cx="516586" cy="3878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E074168-CB01-F9EE-9E6F-C78840CF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269837" y="3986653"/>
            <a:ext cx="516586" cy="38786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96364AC-2A01-E92E-8CC5-F5BC0743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269837" y="3517216"/>
            <a:ext cx="516586" cy="3878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BC97109-6B50-CE0A-C4A8-4EF9BA4AB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269837" y="4613989"/>
            <a:ext cx="516588" cy="38193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ABACF53-518A-FBF2-5852-CB4409CED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236191" y="5214693"/>
            <a:ext cx="516586" cy="3878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1003168-6D72-AED4-7454-49A50DF3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236191" y="4037623"/>
            <a:ext cx="516586" cy="38786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EF082B8-7A5A-5B45-0F4C-73259891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236191" y="3568186"/>
            <a:ext cx="516586" cy="38786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4D89498-783E-294D-CB5C-369C93284D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236191" y="4664959"/>
            <a:ext cx="516588" cy="38193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48DFFBD-8459-1264-7ABC-3EB9E8E4C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402445" y="1832894"/>
            <a:ext cx="516586" cy="38786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CFEDFBE-9390-3F74-3ED8-C8FA3A0C7D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236193" y="2083919"/>
            <a:ext cx="516586" cy="387864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1A37E4-9827-08FA-6694-E0E9E66611BB}"/>
              </a:ext>
            </a:extLst>
          </p:cNvPr>
          <p:cNvSpPr/>
          <p:nvPr/>
        </p:nvSpPr>
        <p:spPr>
          <a:xfrm>
            <a:off x="1137921" y="5829936"/>
            <a:ext cx="781109" cy="228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robot state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683D30-6F43-76EE-8F39-BA3E20A6EE73}"/>
              </a:ext>
            </a:extLst>
          </p:cNvPr>
          <p:cNvSpPr/>
          <p:nvPr/>
        </p:nvSpPr>
        <p:spPr>
          <a:xfrm>
            <a:off x="1137920" y="2590300"/>
            <a:ext cx="781109" cy="2286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2BA7B00-C4CB-F7E7-510F-78EF85681A52}"/>
              </a:ext>
            </a:extLst>
          </p:cNvPr>
          <p:cNvSpPr/>
          <p:nvPr/>
        </p:nvSpPr>
        <p:spPr>
          <a:xfrm>
            <a:off x="2600960" y="1889125"/>
            <a:ext cx="1978025" cy="83502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</a:p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(Qwen 2.5 VL)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B68F9AB-29C1-5365-EE6D-26594FDDE8D5}"/>
              </a:ext>
            </a:extLst>
          </p:cNvPr>
          <p:cNvCxnSpPr>
            <a:cxnSpLocks/>
            <a:stCxn id="35" idx="3"/>
            <a:endCxn id="39" idx="1"/>
          </p:cNvCxnSpPr>
          <p:nvPr/>
        </p:nvCxnSpPr>
        <p:spPr>
          <a:xfrm>
            <a:off x="1919031" y="2026826"/>
            <a:ext cx="681929" cy="27981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87F53147-66F4-383B-54E3-67EE1E3DB2EB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1919029" y="2306638"/>
            <a:ext cx="681931" cy="39796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1CDF025-5653-8438-4928-500EB8B76C51}"/>
              </a:ext>
            </a:extLst>
          </p:cNvPr>
          <p:cNvSpPr/>
          <p:nvPr/>
        </p:nvSpPr>
        <p:spPr>
          <a:xfrm>
            <a:off x="4828269" y="2192334"/>
            <a:ext cx="682839" cy="2286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D7898A-838B-82D9-BF99-9ABB8A93CEA4}"/>
              </a:ext>
            </a:extLst>
          </p:cNvPr>
          <p:cNvSpPr/>
          <p:nvPr/>
        </p:nvSpPr>
        <p:spPr>
          <a:xfrm>
            <a:off x="4742502" y="4674119"/>
            <a:ext cx="1978025" cy="8350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Expert</a:t>
            </a:r>
          </a:p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(ACT)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FE0DB0F-D823-68EB-15DD-DD42D91F5978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 flipV="1">
            <a:off x="4578985" y="2306637"/>
            <a:ext cx="2492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A311DC0-7440-E647-5A76-69C29349B7F2}"/>
              </a:ext>
            </a:extLst>
          </p:cNvPr>
          <p:cNvSpPr/>
          <p:nvPr/>
        </p:nvSpPr>
        <p:spPr>
          <a:xfrm>
            <a:off x="2600960" y="4075411"/>
            <a:ext cx="1145964" cy="4837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Encoder</a:t>
            </a:r>
          </a:p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(ResNet18)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F9FB3CDE-0D1C-9293-407D-F5A4AC430096}"/>
              </a:ext>
            </a:extLst>
          </p:cNvPr>
          <p:cNvCxnSpPr>
            <a:stCxn id="16" idx="3"/>
            <a:endCxn id="45" idx="1"/>
          </p:cNvCxnSpPr>
          <p:nvPr/>
        </p:nvCxnSpPr>
        <p:spPr>
          <a:xfrm>
            <a:off x="1919029" y="3511093"/>
            <a:ext cx="681931" cy="8062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6D6D015B-63BD-3E5D-1D79-826089CFDEB1}"/>
              </a:ext>
            </a:extLst>
          </p:cNvPr>
          <p:cNvCxnSpPr>
            <a:stCxn id="14" idx="3"/>
            <a:endCxn id="45" idx="1"/>
          </p:cNvCxnSpPr>
          <p:nvPr/>
        </p:nvCxnSpPr>
        <p:spPr>
          <a:xfrm>
            <a:off x="1919029" y="3980530"/>
            <a:ext cx="681931" cy="3367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F20C13BF-E2E9-4197-EF46-A74DCC4A7FCA}"/>
              </a:ext>
            </a:extLst>
          </p:cNvPr>
          <p:cNvCxnSpPr>
            <a:stCxn id="19" idx="3"/>
            <a:endCxn id="45" idx="1"/>
          </p:cNvCxnSpPr>
          <p:nvPr/>
        </p:nvCxnSpPr>
        <p:spPr>
          <a:xfrm flipV="1">
            <a:off x="1885383" y="4317296"/>
            <a:ext cx="715577" cy="909521"/>
          </a:xfrm>
          <a:prstGeom prst="bentConnector3">
            <a:avLst>
              <a:gd name="adj1" fmla="val 5221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A2991677-6D12-885E-5A75-AF1B0ED18E4F}"/>
              </a:ext>
            </a:extLst>
          </p:cNvPr>
          <p:cNvCxnSpPr>
            <a:stCxn id="18" idx="3"/>
            <a:endCxn id="45" idx="1"/>
          </p:cNvCxnSpPr>
          <p:nvPr/>
        </p:nvCxnSpPr>
        <p:spPr>
          <a:xfrm flipV="1">
            <a:off x="1919031" y="4317296"/>
            <a:ext cx="681929" cy="2876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9ACA109-840F-974D-6CAD-80F0CDC89805}"/>
              </a:ext>
            </a:extLst>
          </p:cNvPr>
          <p:cNvSpPr/>
          <p:nvPr/>
        </p:nvSpPr>
        <p:spPr>
          <a:xfrm>
            <a:off x="2883432" y="3503341"/>
            <a:ext cx="578061" cy="369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FiLM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9A4EE8E-05A5-5486-B364-3AD494BDDBDA}"/>
              </a:ext>
            </a:extLst>
          </p:cNvPr>
          <p:cNvCxnSpPr>
            <a:stCxn id="45" idx="3"/>
            <a:endCxn id="43" idx="1"/>
          </p:cNvCxnSpPr>
          <p:nvPr/>
        </p:nvCxnSpPr>
        <p:spPr>
          <a:xfrm>
            <a:off x="3746924" y="4317296"/>
            <a:ext cx="995578" cy="7743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9EE2B525-61B0-115D-1010-EC2B808AB84F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 flipV="1">
            <a:off x="1919030" y="5091632"/>
            <a:ext cx="2823472" cy="8526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C5DCF32-285F-5E2E-D22A-AA1818B677C1}"/>
              </a:ext>
            </a:extLst>
          </p:cNvPr>
          <p:cNvSpPr/>
          <p:nvPr/>
        </p:nvSpPr>
        <p:spPr>
          <a:xfrm>
            <a:off x="7224554" y="4977328"/>
            <a:ext cx="682839" cy="228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B32F2E9-04CD-9C3D-3AFF-0179EEAE41C1}"/>
              </a:ext>
            </a:extLst>
          </p:cNvPr>
          <p:cNvCxnSpPr>
            <a:stCxn id="43" idx="3"/>
            <a:endCxn id="53" idx="1"/>
          </p:cNvCxnSpPr>
          <p:nvPr/>
        </p:nvCxnSpPr>
        <p:spPr>
          <a:xfrm flipV="1">
            <a:off x="6720527" y="5091631"/>
            <a:ext cx="5040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9B16213D-F449-93C3-866B-79B5D5B4ED55}"/>
              </a:ext>
            </a:extLst>
          </p:cNvPr>
          <p:cNvCxnSpPr>
            <a:cxnSpLocks/>
            <a:stCxn id="42" idx="2"/>
            <a:endCxn id="50" idx="0"/>
          </p:cNvCxnSpPr>
          <p:nvPr/>
        </p:nvCxnSpPr>
        <p:spPr>
          <a:xfrm rot="5400000">
            <a:off x="3629876" y="1963527"/>
            <a:ext cx="1082401" cy="1997226"/>
          </a:xfrm>
          <a:prstGeom prst="bentConnector3">
            <a:avLst>
              <a:gd name="adj1" fmla="val 55632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3F8647C-C283-826D-BCD9-DC01C5C8DC6F}"/>
              </a:ext>
            </a:extLst>
          </p:cNvPr>
          <p:cNvCxnSpPr>
            <a:stCxn id="50" idx="2"/>
            <a:endCxn id="45" idx="0"/>
          </p:cNvCxnSpPr>
          <p:nvPr/>
        </p:nvCxnSpPr>
        <p:spPr>
          <a:xfrm>
            <a:off x="3172463" y="3873146"/>
            <a:ext cx="1479" cy="20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E1629E0-5CB8-1A04-D44E-97CBE77065B9}"/>
              </a:ext>
            </a:extLst>
          </p:cNvPr>
          <p:cNvSpPr/>
          <p:nvPr/>
        </p:nvSpPr>
        <p:spPr>
          <a:xfrm>
            <a:off x="2423055" y="3266440"/>
            <a:ext cx="4536545" cy="2902168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9D7DC7C-E724-50B8-2276-9F5C432240F7}"/>
              </a:ext>
            </a:extLst>
          </p:cNvPr>
          <p:cNvSpPr/>
          <p:nvPr/>
        </p:nvSpPr>
        <p:spPr>
          <a:xfrm>
            <a:off x="2085279" y="1657661"/>
            <a:ext cx="2613721" cy="120109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E734D48E-D8C2-D5FF-3F3F-D2CFE0D125F6}"/>
              </a:ext>
            </a:extLst>
          </p:cNvPr>
          <p:cNvSpPr/>
          <p:nvPr/>
        </p:nvSpPr>
        <p:spPr>
          <a:xfrm>
            <a:off x="2932726" y="1540488"/>
            <a:ext cx="918825" cy="2286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FD9EB3FF-E76A-AB79-7A79-55AA5439F16B}"/>
              </a:ext>
            </a:extLst>
          </p:cNvPr>
          <p:cNvSpPr/>
          <p:nvPr/>
        </p:nvSpPr>
        <p:spPr>
          <a:xfrm>
            <a:off x="4237083" y="3149545"/>
            <a:ext cx="1010838" cy="2286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SYSTEM 1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7DF5A818-C9B3-88BA-5FB4-C39EE6C0E382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DualProcessVLA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Architecture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88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BFA1E7-B7DF-8822-4856-0805B2850D93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  <a:endParaRPr lang="ko-KR" altLang="en-US" sz="2400" b="1" dirty="0" err="1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9576017-0244-5D11-B0B0-B74CF782AC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402443" y="4963668"/>
            <a:ext cx="516586" cy="3878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13C830-1AB3-71DB-6646-C0C83A06D8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402443" y="3786598"/>
            <a:ext cx="516586" cy="38786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DD6D973-BC08-D261-C091-ADD48B49FB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402443" y="3317161"/>
            <a:ext cx="516586" cy="3878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6E3D2E2-7E3A-AED1-9BFE-958F8C741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402443" y="4413934"/>
            <a:ext cx="516588" cy="38193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5CEC436-4C35-73E3-7A60-BE1638529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368797" y="5032885"/>
            <a:ext cx="516586" cy="3878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25793AD-C963-BA73-A578-77A6FF866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368797" y="3855815"/>
            <a:ext cx="516586" cy="38786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46C3D97-C32D-9AEA-E13D-EABEC3ED83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368797" y="3386378"/>
            <a:ext cx="516586" cy="38786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AB46CA-2A12-F2EE-E699-DBC911127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368797" y="4483151"/>
            <a:ext cx="516588" cy="38193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17756F9-CE0A-B675-994A-E20CF642B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303483" y="5102102"/>
            <a:ext cx="516586" cy="38786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8FAF57E-632F-87EB-12E1-7D3283F727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303483" y="3925032"/>
            <a:ext cx="516586" cy="38786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C0212E3-64DF-0777-BE63-F25AE19E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303483" y="3455595"/>
            <a:ext cx="516586" cy="38786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DB038A9-F6C2-0847-6D9B-4746D048C9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303483" y="4552368"/>
            <a:ext cx="516588" cy="38193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8DDE672-F045-960D-BB6C-AA25B4514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269837" y="5163723"/>
            <a:ext cx="516586" cy="3878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E074168-CB01-F9EE-9E6F-C78840CF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269837" y="3986653"/>
            <a:ext cx="516586" cy="38786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96364AC-2A01-E92E-8CC5-F5BC0743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269837" y="3517216"/>
            <a:ext cx="516586" cy="3878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BC97109-6B50-CE0A-C4A8-4EF9BA4AB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269837" y="4613989"/>
            <a:ext cx="516588" cy="38193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ABACF53-518A-FBF2-5852-CB4409CED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0" t="56920" r="1021" b="1527"/>
          <a:stretch/>
        </p:blipFill>
        <p:spPr>
          <a:xfrm>
            <a:off x="1236191" y="5214693"/>
            <a:ext cx="516586" cy="3878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1003168-6D72-AED4-7454-49A50DF3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236191" y="4037623"/>
            <a:ext cx="516586" cy="38786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EF082B8-7A5A-5B45-0F4C-73259891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95" t="7248" r="1038" b="51199"/>
          <a:stretch/>
        </p:blipFill>
        <p:spPr>
          <a:xfrm>
            <a:off x="1236191" y="3568186"/>
            <a:ext cx="516586" cy="38786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4D89498-783E-294D-CB5C-369C93284D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7108" r="54400" b="1976"/>
          <a:stretch/>
        </p:blipFill>
        <p:spPr>
          <a:xfrm>
            <a:off x="1236191" y="4664959"/>
            <a:ext cx="516588" cy="38193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48DFFBD-8459-1264-7ABC-3EB9E8E4C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402445" y="1832894"/>
            <a:ext cx="516586" cy="38786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CFEDFBE-9390-3F74-3ED8-C8FA3A0C7D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5" t="7383" r="54366" b="51064"/>
          <a:stretch/>
        </p:blipFill>
        <p:spPr>
          <a:xfrm>
            <a:off x="1236193" y="2083919"/>
            <a:ext cx="516586" cy="387864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1A37E4-9827-08FA-6694-E0E9E66611BB}"/>
              </a:ext>
            </a:extLst>
          </p:cNvPr>
          <p:cNvSpPr/>
          <p:nvPr/>
        </p:nvSpPr>
        <p:spPr>
          <a:xfrm>
            <a:off x="1137921" y="5829936"/>
            <a:ext cx="781109" cy="228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robot state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683D30-6F43-76EE-8F39-BA3E20A6EE73}"/>
              </a:ext>
            </a:extLst>
          </p:cNvPr>
          <p:cNvSpPr/>
          <p:nvPr/>
        </p:nvSpPr>
        <p:spPr>
          <a:xfrm>
            <a:off x="1137920" y="2590300"/>
            <a:ext cx="781109" cy="2286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2BA7B00-C4CB-F7E7-510F-78EF85681A52}"/>
              </a:ext>
            </a:extLst>
          </p:cNvPr>
          <p:cNvSpPr/>
          <p:nvPr/>
        </p:nvSpPr>
        <p:spPr>
          <a:xfrm>
            <a:off x="2600960" y="1889125"/>
            <a:ext cx="1978025" cy="83502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</a:p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(Qwen 2.5 VL)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B68F9AB-29C1-5365-EE6D-26594FDDE8D5}"/>
              </a:ext>
            </a:extLst>
          </p:cNvPr>
          <p:cNvCxnSpPr>
            <a:stCxn id="35" idx="3"/>
            <a:endCxn id="39" idx="1"/>
          </p:cNvCxnSpPr>
          <p:nvPr/>
        </p:nvCxnSpPr>
        <p:spPr>
          <a:xfrm>
            <a:off x="1919031" y="2026826"/>
            <a:ext cx="681929" cy="27981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87F53147-66F4-383B-54E3-67EE1E3DB2EB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1919029" y="2306638"/>
            <a:ext cx="681931" cy="39796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1CDF025-5653-8438-4928-500EB8B76C51}"/>
              </a:ext>
            </a:extLst>
          </p:cNvPr>
          <p:cNvSpPr/>
          <p:nvPr/>
        </p:nvSpPr>
        <p:spPr>
          <a:xfrm>
            <a:off x="4828269" y="2192334"/>
            <a:ext cx="682839" cy="2286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D7898A-838B-82D9-BF99-9ABB8A93CEA4}"/>
              </a:ext>
            </a:extLst>
          </p:cNvPr>
          <p:cNvSpPr/>
          <p:nvPr/>
        </p:nvSpPr>
        <p:spPr>
          <a:xfrm>
            <a:off x="4742502" y="4674119"/>
            <a:ext cx="1978025" cy="8350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Expert</a:t>
            </a:r>
          </a:p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(ACT)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FE0DB0F-D823-68EB-15DD-DD42D91F5978}"/>
              </a:ext>
            </a:extLst>
          </p:cNvPr>
          <p:cNvCxnSpPr>
            <a:stCxn id="39" idx="3"/>
            <a:endCxn id="42" idx="1"/>
          </p:cNvCxnSpPr>
          <p:nvPr/>
        </p:nvCxnSpPr>
        <p:spPr>
          <a:xfrm flipV="1">
            <a:off x="4578985" y="2306637"/>
            <a:ext cx="2492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A311DC0-7440-E647-5A76-69C29349B7F2}"/>
              </a:ext>
            </a:extLst>
          </p:cNvPr>
          <p:cNvSpPr/>
          <p:nvPr/>
        </p:nvSpPr>
        <p:spPr>
          <a:xfrm>
            <a:off x="2600960" y="4075411"/>
            <a:ext cx="1145964" cy="48377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DinoV3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F9FB3CDE-0D1C-9293-407D-F5A4AC430096}"/>
              </a:ext>
            </a:extLst>
          </p:cNvPr>
          <p:cNvCxnSpPr>
            <a:stCxn id="16" idx="3"/>
            <a:endCxn id="45" idx="1"/>
          </p:cNvCxnSpPr>
          <p:nvPr/>
        </p:nvCxnSpPr>
        <p:spPr>
          <a:xfrm>
            <a:off x="1919029" y="3511093"/>
            <a:ext cx="681931" cy="8062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6D6D015B-63BD-3E5D-1D79-826089CFDEB1}"/>
              </a:ext>
            </a:extLst>
          </p:cNvPr>
          <p:cNvCxnSpPr>
            <a:stCxn id="14" idx="3"/>
            <a:endCxn id="45" idx="1"/>
          </p:cNvCxnSpPr>
          <p:nvPr/>
        </p:nvCxnSpPr>
        <p:spPr>
          <a:xfrm>
            <a:off x="1919029" y="3980530"/>
            <a:ext cx="681931" cy="3367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F20C13BF-E2E9-4197-EF46-A74DCC4A7FCA}"/>
              </a:ext>
            </a:extLst>
          </p:cNvPr>
          <p:cNvCxnSpPr>
            <a:stCxn id="19" idx="3"/>
            <a:endCxn id="45" idx="1"/>
          </p:cNvCxnSpPr>
          <p:nvPr/>
        </p:nvCxnSpPr>
        <p:spPr>
          <a:xfrm flipV="1">
            <a:off x="1885383" y="4317296"/>
            <a:ext cx="715577" cy="909521"/>
          </a:xfrm>
          <a:prstGeom prst="bentConnector3">
            <a:avLst>
              <a:gd name="adj1" fmla="val 5221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A2991677-6D12-885E-5A75-AF1B0ED18E4F}"/>
              </a:ext>
            </a:extLst>
          </p:cNvPr>
          <p:cNvCxnSpPr>
            <a:stCxn id="18" idx="3"/>
            <a:endCxn id="45" idx="1"/>
          </p:cNvCxnSpPr>
          <p:nvPr/>
        </p:nvCxnSpPr>
        <p:spPr>
          <a:xfrm flipV="1">
            <a:off x="1919031" y="4317296"/>
            <a:ext cx="681929" cy="2876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9A4EE8E-05A5-5486-B364-3AD494BDDBDA}"/>
              </a:ext>
            </a:extLst>
          </p:cNvPr>
          <p:cNvCxnSpPr>
            <a:stCxn id="45" idx="3"/>
            <a:endCxn id="43" idx="1"/>
          </p:cNvCxnSpPr>
          <p:nvPr/>
        </p:nvCxnSpPr>
        <p:spPr>
          <a:xfrm>
            <a:off x="3746924" y="4317296"/>
            <a:ext cx="995578" cy="7743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9EE2B525-61B0-115D-1010-EC2B808AB84F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 flipV="1">
            <a:off x="1919030" y="5091632"/>
            <a:ext cx="2823472" cy="8526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C5DCF32-285F-5E2E-D22A-AA1818B677C1}"/>
              </a:ext>
            </a:extLst>
          </p:cNvPr>
          <p:cNvSpPr/>
          <p:nvPr/>
        </p:nvSpPr>
        <p:spPr>
          <a:xfrm>
            <a:off x="7224554" y="4977328"/>
            <a:ext cx="682839" cy="228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B32F2E9-04CD-9C3D-3AFF-0179EEAE41C1}"/>
              </a:ext>
            </a:extLst>
          </p:cNvPr>
          <p:cNvCxnSpPr>
            <a:stCxn id="43" idx="3"/>
            <a:endCxn id="53" idx="1"/>
          </p:cNvCxnSpPr>
          <p:nvPr/>
        </p:nvCxnSpPr>
        <p:spPr>
          <a:xfrm flipV="1">
            <a:off x="6720527" y="5091631"/>
            <a:ext cx="5040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E1629E0-5CB8-1A04-D44E-97CBE77065B9}"/>
              </a:ext>
            </a:extLst>
          </p:cNvPr>
          <p:cNvSpPr/>
          <p:nvPr/>
        </p:nvSpPr>
        <p:spPr>
          <a:xfrm>
            <a:off x="2423055" y="3266440"/>
            <a:ext cx="4536545" cy="2902168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9D7DC7C-E724-50B8-2276-9F5C432240F7}"/>
              </a:ext>
            </a:extLst>
          </p:cNvPr>
          <p:cNvSpPr/>
          <p:nvPr/>
        </p:nvSpPr>
        <p:spPr>
          <a:xfrm>
            <a:off x="2085279" y="1657661"/>
            <a:ext cx="2613721" cy="120109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E734D48E-D8C2-D5FF-3F3F-D2CFE0D125F6}"/>
              </a:ext>
            </a:extLst>
          </p:cNvPr>
          <p:cNvSpPr/>
          <p:nvPr/>
        </p:nvSpPr>
        <p:spPr>
          <a:xfrm>
            <a:off x="2932726" y="1540488"/>
            <a:ext cx="918825" cy="2286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endParaRPr lang="ko-KR" alt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FD9EB3FF-E76A-AB79-7A79-55AA5439F16B}"/>
              </a:ext>
            </a:extLst>
          </p:cNvPr>
          <p:cNvSpPr/>
          <p:nvPr/>
        </p:nvSpPr>
        <p:spPr>
          <a:xfrm>
            <a:off x="4237083" y="3149545"/>
            <a:ext cx="1010838" cy="2286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1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9B16213D-F449-93C3-866B-79B5D5B4ED55}"/>
              </a:ext>
            </a:extLst>
          </p:cNvPr>
          <p:cNvCxnSpPr>
            <a:cxnSpLocks/>
            <a:stCxn id="42" idx="2"/>
            <a:endCxn id="43" idx="1"/>
          </p:cNvCxnSpPr>
          <p:nvPr/>
        </p:nvCxnSpPr>
        <p:spPr>
          <a:xfrm rot="5400000">
            <a:off x="3620750" y="3542693"/>
            <a:ext cx="2670692" cy="427187"/>
          </a:xfrm>
          <a:prstGeom prst="bentConnector4">
            <a:avLst>
              <a:gd name="adj1" fmla="val 42183"/>
              <a:gd name="adj2" fmla="val 217219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모서리가 둥근 직사각형 11">
            <a:extLst>
              <a:ext uri="{FF2B5EF4-FFF2-40B4-BE49-F238E27FC236}">
                <a16:creationId xmlns:a16="http://schemas.microsoft.com/office/drawing/2014/main" id="{B97FF5D6-3C1F-40E0-1F0A-A1B2523AAF6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DualProcessVLA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Architecture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9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8EBB51A-7AAA-7109-4874-BBA74023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71" b="30936"/>
          <a:stretch/>
        </p:blipFill>
        <p:spPr>
          <a:xfrm>
            <a:off x="265453" y="1534299"/>
            <a:ext cx="8568952" cy="13226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3198392"/>
            <a:ext cx="8350625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 (QwenVL2.5-7B)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응답 생성 직전 위치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‘\n’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state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전달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prompt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정보가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통해 압축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통합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되어 있음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정보가 심하게 압축되어 손실되었을 수 있음</a:t>
            </a:r>
            <a:endParaRPr lang="en-US" altLang="ko-K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gr00t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경우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모든 위치의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state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전달함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Libero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 원장 시연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데이터의 경우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비교 시 대부분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이상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추출방식의 개선 필요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20A20F-F99A-E68B-9215-379CF12CF39E}"/>
              </a:ext>
            </a:extLst>
          </p:cNvPr>
          <p:cNvSpPr/>
          <p:nvPr/>
        </p:nvSpPr>
        <p:spPr>
          <a:xfrm>
            <a:off x="620830" y="2623073"/>
            <a:ext cx="705526" cy="2215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5BC3FC-F9DD-5AAE-E8B0-3DD281AC85FD}"/>
              </a:ext>
            </a:extLst>
          </p:cNvPr>
          <p:cNvSpPr/>
          <p:nvPr/>
        </p:nvSpPr>
        <p:spPr>
          <a:xfrm>
            <a:off x="1326356" y="2623073"/>
            <a:ext cx="536972" cy="2215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BB85E2-338B-9D71-F43C-C0121212D4E9}"/>
              </a:ext>
            </a:extLst>
          </p:cNvPr>
          <p:cNvSpPr/>
          <p:nvPr/>
        </p:nvSpPr>
        <p:spPr>
          <a:xfrm>
            <a:off x="1857710" y="2623073"/>
            <a:ext cx="128932" cy="2215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0FF87FD-9D46-A842-B9B5-C9EFC0FE3622}"/>
              </a:ext>
            </a:extLst>
          </p:cNvPr>
          <p:cNvCxnSpPr>
            <a:cxnSpLocks/>
          </p:cNvCxnSpPr>
          <p:nvPr/>
        </p:nvCxnSpPr>
        <p:spPr>
          <a:xfrm flipV="1">
            <a:off x="1924812" y="2844633"/>
            <a:ext cx="0" cy="370055"/>
          </a:xfrm>
          <a:prstGeom prst="straightConnector1">
            <a:avLst/>
          </a:prstGeom>
          <a:ln w="38100">
            <a:solidFill>
              <a:srgbClr val="EF40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799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9B5E2D-F939-06A5-3C84-DFD9503652B7}"/>
                  </a:ext>
                </a:extLst>
              </p:cNvPr>
              <p:cNvSpPr txBox="1"/>
              <p:nvPr/>
            </p:nvSpPr>
            <p:spPr>
              <a:xfrm>
                <a:off x="324679" y="3687227"/>
                <a:ext cx="8350625" cy="2263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latent 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시점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현재는 시점을 계산하여 고정적으로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사용함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latent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추출 시점 다양화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항상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이 학습 데이터 때 만큼 이동한다는 보장이 없음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3"/>
                  </a:rPr>
                  <a:t>Duo-core FS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학습 중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system2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의 입력 시점에서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시점에서 랜덤하게 추출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Salience Network: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latent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의 갱신 여부를 학습하는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사용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9B5E2D-F939-06A5-3C84-DFD950365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79" y="3687227"/>
                <a:ext cx="8350625" cy="2263440"/>
              </a:xfrm>
              <a:prstGeom prst="rect">
                <a:avLst/>
              </a:prstGeom>
              <a:blipFill>
                <a:blip r:embed="rId4"/>
                <a:stretch>
                  <a:fillRect l="-292" b="-2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3466B197-E286-3F9A-1434-0434BDC3A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038" y="1534299"/>
            <a:ext cx="5693782" cy="204832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6A7F2E4-6866-F20C-0276-C9167EB6ECDE}"/>
              </a:ext>
            </a:extLst>
          </p:cNvPr>
          <p:cNvCxnSpPr>
            <a:cxnSpLocks/>
          </p:cNvCxnSpPr>
          <p:nvPr/>
        </p:nvCxnSpPr>
        <p:spPr>
          <a:xfrm>
            <a:off x="1658818" y="2705419"/>
            <a:ext cx="512881" cy="0"/>
          </a:xfrm>
          <a:prstGeom prst="straightConnector1">
            <a:avLst/>
          </a:prstGeom>
          <a:ln w="38100">
            <a:solidFill>
              <a:srgbClr val="EF403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1BA740D-064B-9275-8AC0-6F74B418EA49}"/>
              </a:ext>
            </a:extLst>
          </p:cNvPr>
          <p:cNvCxnSpPr>
            <a:cxnSpLocks/>
          </p:cNvCxnSpPr>
          <p:nvPr/>
        </p:nvCxnSpPr>
        <p:spPr>
          <a:xfrm>
            <a:off x="2812714" y="2705419"/>
            <a:ext cx="512881" cy="0"/>
          </a:xfrm>
          <a:prstGeom prst="straightConnector1">
            <a:avLst/>
          </a:prstGeom>
          <a:ln w="38100">
            <a:solidFill>
              <a:srgbClr val="EF403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33235C6-C023-45D5-230A-1A8C1E6F0CA6}"/>
              </a:ext>
            </a:extLst>
          </p:cNvPr>
          <p:cNvCxnSpPr>
            <a:cxnSpLocks/>
          </p:cNvCxnSpPr>
          <p:nvPr/>
        </p:nvCxnSpPr>
        <p:spPr>
          <a:xfrm>
            <a:off x="3419872" y="2705419"/>
            <a:ext cx="512881" cy="0"/>
          </a:xfrm>
          <a:prstGeom prst="straightConnector1">
            <a:avLst/>
          </a:prstGeom>
          <a:ln w="38100">
            <a:solidFill>
              <a:srgbClr val="EF403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12AD4CB-E94B-98ED-8DAB-B14C8664CAF5}"/>
              </a:ext>
            </a:extLst>
          </p:cNvPr>
          <p:cNvCxnSpPr>
            <a:cxnSpLocks/>
          </p:cNvCxnSpPr>
          <p:nvPr/>
        </p:nvCxnSpPr>
        <p:spPr>
          <a:xfrm>
            <a:off x="4127443" y="2711181"/>
            <a:ext cx="512881" cy="0"/>
          </a:xfrm>
          <a:prstGeom prst="straightConnector1">
            <a:avLst/>
          </a:prstGeom>
          <a:ln w="38100">
            <a:solidFill>
              <a:srgbClr val="EF403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47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EA9E96D-17F6-2335-C7D3-306FEEC3279A}"/>
              </a:ext>
            </a:extLst>
          </p:cNvPr>
          <p:cNvGrpSpPr/>
          <p:nvPr/>
        </p:nvGrpSpPr>
        <p:grpSpPr>
          <a:xfrm>
            <a:off x="2334497" y="1623954"/>
            <a:ext cx="4126556" cy="3077356"/>
            <a:chOff x="4236720" y="2909388"/>
            <a:chExt cx="3278717" cy="244508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F66B96D-679E-68B1-17F2-7601EDBA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973"/>
            <a:stretch/>
          </p:blipFill>
          <p:spPr>
            <a:xfrm>
              <a:off x="4236720" y="2909388"/>
              <a:ext cx="3166110" cy="1211066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16C1F9A-764E-EC04-1F86-0395B9A5E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8222"/>
            <a:stretch/>
          </p:blipFill>
          <p:spPr>
            <a:xfrm>
              <a:off x="6014364" y="4143405"/>
              <a:ext cx="1501073" cy="1211066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036A76C-211D-C6D4-A009-67A5635EDAA0}"/>
                </a:ext>
              </a:extLst>
            </p:cNvPr>
            <p:cNvSpPr/>
            <p:nvPr/>
          </p:nvSpPr>
          <p:spPr>
            <a:xfrm>
              <a:off x="6157595" y="4015317"/>
              <a:ext cx="107737" cy="4455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3072C1E-52F3-EB10-0CC1-40545346D8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5111" y="3958463"/>
              <a:ext cx="0" cy="5151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D35381-5C32-1E91-1876-F68367599DEA}"/>
              </a:ext>
            </a:extLst>
          </p:cNvPr>
          <p:cNvSpPr txBox="1"/>
          <p:nvPr/>
        </p:nvSpPr>
        <p:spPr>
          <a:xfrm>
            <a:off x="324679" y="4801337"/>
            <a:ext cx="8350625" cy="78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latent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출력을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Policy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decoder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전달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구조를 변경할 필요 있음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matching base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658A048-DAD7-426C-68F0-54A2E8801E8D}"/>
              </a:ext>
            </a:extLst>
          </p:cNvPr>
          <p:cNvGrpSpPr/>
          <p:nvPr/>
        </p:nvGrpSpPr>
        <p:grpSpPr>
          <a:xfrm>
            <a:off x="4897607" y="2676774"/>
            <a:ext cx="139699" cy="275294"/>
            <a:chOff x="2949284" y="2964217"/>
            <a:chExt cx="139699" cy="275294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690B8EC-C1FA-D04D-3862-1156299B5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3383" t="78795" r="24267" b="12973"/>
            <a:stretch/>
          </p:blipFill>
          <p:spPr>
            <a:xfrm>
              <a:off x="2949284" y="3114033"/>
              <a:ext cx="139699" cy="12547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68AFA2E6-2571-A926-A20C-C357311E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2080" y="2964217"/>
              <a:ext cx="0" cy="1489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11B1FAD-D6F7-A521-8A2E-DDE90B1F5EE1}"/>
              </a:ext>
            </a:extLst>
          </p:cNvPr>
          <p:cNvSpPr/>
          <p:nvPr/>
        </p:nvSpPr>
        <p:spPr>
          <a:xfrm>
            <a:off x="3720104" y="3731726"/>
            <a:ext cx="762911" cy="45212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0B0AE317-B4F7-1314-D0F2-14C8FE4B5A73}"/>
              </a:ext>
            </a:extLst>
          </p:cNvPr>
          <p:cNvCxnSpPr>
            <a:stCxn id="26" idx="0"/>
            <a:endCxn id="16" idx="2"/>
          </p:cNvCxnSpPr>
          <p:nvPr/>
        </p:nvCxnSpPr>
        <p:spPr>
          <a:xfrm rot="5400000" flipH="1" flipV="1">
            <a:off x="4144679" y="2908949"/>
            <a:ext cx="779658" cy="86589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EBDC29-1CB4-0640-5376-7CD374C10236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  <a:endParaRPr lang="ko-KR" altLang="en-US" sz="2400" b="1" dirty="0" err="1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2BFBB523-0327-C77C-0511-D6F6C52C3EB3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System1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028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5DBF92BC-EFC8-9D37-E997-F1CDE3AE8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901" y="1467799"/>
            <a:ext cx="2722322" cy="21496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D35381-5C32-1E91-1876-F68367599DEA}"/>
              </a:ext>
            </a:extLst>
          </p:cNvPr>
          <p:cNvSpPr txBox="1"/>
          <p:nvPr/>
        </p:nvSpPr>
        <p:spPr>
          <a:xfrm>
            <a:off x="324679" y="3784413"/>
            <a:ext cx="8350625" cy="226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구조는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매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예측을 수행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하며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반응성이 좋아야 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대부분의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expert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들은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단위로 예측을 수행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매 스텝 생성되는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chunk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들을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ensemble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사용하여 처리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HUME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노이즈 제거 중 생성된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chunk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들의 점수를 매겨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chunk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선택함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(RL)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뽑힌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들의 점수를 매겨 하나만 사용하게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EBDC29-1CB4-0640-5376-7CD374C10236}"/>
              </a:ext>
            </a:extLst>
          </p:cNvPr>
          <p:cNvSpPr txBox="1"/>
          <p:nvPr/>
        </p:nvSpPr>
        <p:spPr>
          <a:xfrm>
            <a:off x="112762" y="210100"/>
            <a:ext cx="330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  <a:endParaRPr lang="ko-KR" altLang="en-US" sz="2400" b="1" dirty="0" err="1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2BFBB523-0327-C77C-0511-D6F6C52C3EB3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System1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662F9A-362D-DAB3-034E-2CA223BFA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375" y="1499546"/>
            <a:ext cx="5540286" cy="224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3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Training method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CE40E-859F-4F89-FE68-64C6664F097A}"/>
              </a:ext>
            </a:extLst>
          </p:cNvPr>
          <p:cNvSpPr txBox="1"/>
          <p:nvPr/>
        </p:nvSpPr>
        <p:spPr>
          <a:xfrm>
            <a:off x="324679" y="1557373"/>
            <a:ext cx="8350625" cy="411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이전 학습 방식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미리 추출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데이터셋에 대한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정규화 값 알 수 있음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학습하는 데이터셋에 대한 모든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추출해야 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freeze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하는 가정에서 사용</a:t>
            </a:r>
            <a:endParaRPr lang="en-US" altLang="ko-K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시간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용량적으로 비효율적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구현 중인 방식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학습 중 추출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데이터셋에 대한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정규화 값 알 수 없음</a:t>
            </a:r>
            <a:endParaRPr lang="en-US" altLang="ko-K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trainable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하게 사용 가능함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710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Training method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CE40E-859F-4F89-FE68-64C6664F097A}"/>
              </a:ext>
            </a:extLst>
          </p:cNvPr>
          <p:cNvSpPr txBox="1"/>
          <p:nvPr/>
        </p:nvSpPr>
        <p:spPr>
          <a:xfrm>
            <a:off x="324679" y="3211908"/>
            <a:ext cx="8350625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이전 학습 방식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별로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mean/std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정규화 하여 전달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데이터셋의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통계값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사용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구현 중인 방식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norm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수행하여 전달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하나의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안에서 통계치 계산해서 정규화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Libero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확인 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모델에서 성능이 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크게 감소하였음</a:t>
            </a:r>
            <a:endParaRPr lang="en-US" altLang="ko-K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정규화 없이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그대로 전달하도록 수정 후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학습 중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AC7A0EB-7DC6-E1B2-E0DC-DCA27CBC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16" y="1640393"/>
            <a:ext cx="8379092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49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24679" y="1465357"/>
            <a:ext cx="8350625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비동기적으로 동작해야 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어떤 방식으로 연결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Pi0 style (</a:t>
            </a: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qwen-vla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molmoact2, psi0, …)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단위에서 결합하여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self-attention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하게 사용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Groot style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나오는 토큰들을 모두 사용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유지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토큰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프롬프트 처리 후 응답 직전의 토큰을 추출하여 사용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변형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프롬프트 처리 후 응답 직전의 여러 토큰을 추출하여 사용</a:t>
            </a:r>
            <a:endParaRPr lang="en-US" altLang="ko-KR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4</a:t>
            </a:r>
            <a:r>
              <a:rPr lang="ko-KR" alt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‘?’, ‘&lt;|</a:t>
            </a:r>
            <a:r>
              <a:rPr lang="en-US" altLang="ko-KR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|&gt;’, ‘assistant’, ‘\n’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응답을 생성하도록 한 뒤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생성되는 토큰 사용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매번 비슷한 응답을 내보내는지 등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모서리가 둥근 직사각형 11">
            <a:extLst>
              <a:ext uri="{FF2B5EF4-FFF2-40B4-BE49-F238E27FC236}">
                <a16:creationId xmlns:a16="http://schemas.microsoft.com/office/drawing/2014/main" id="{434B491D-43AD-1E9E-0AB7-9850C6A9A94D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Structure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45479-E309-C8A6-2012-3FE489E7E5A8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1872425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24679" y="1465357"/>
            <a:ext cx="8350625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QwenVL3.5-4B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(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기존 추출 방식 확장버전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마지막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사용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|&gt;system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You are a single-arm gripper-type robot. You have just received the following images from two cameras.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im_end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|&gt;user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Picture 1: 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vision_start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image_pad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×64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vision_end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 - Captured by the camera positioned directly above the robot.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Picture 2: 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vision_start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image_pad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×64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vision_end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 - Captured by the wrist-mounted camera.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How should you move when you need to {task}?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im_end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&lt;think&gt;</a:t>
            </a:r>
            <a:r>
              <a:rPr lang="en-US" altLang="ko-KR" sz="1600" b="1" dirty="0">
                <a:highlight>
                  <a:srgbClr val="E6E5E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\n\n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&lt;/think&gt;</a:t>
            </a:r>
            <a:r>
              <a:rPr lang="en-US" altLang="ko-KR" sz="1600" b="1" dirty="0">
                <a:highlight>
                  <a:srgbClr val="E6E5E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\n\n</a:t>
            </a:r>
          </a:p>
        </p:txBody>
      </p:sp>
      <p:sp>
        <p:nvSpPr>
          <p:cNvPr id="4" name="모서리가 둥근 직사각형 11">
            <a:extLst>
              <a:ext uri="{FF2B5EF4-FFF2-40B4-BE49-F238E27FC236}">
                <a16:creationId xmlns:a16="http://schemas.microsoft.com/office/drawing/2014/main" id="{434B491D-43AD-1E9E-0AB7-9850C6A9A94D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Structure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45479-E309-C8A6-2012-3FE489E7E5A8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78F2C2-2E94-FE0D-E00C-F3447F5B804A}"/>
              </a:ext>
            </a:extLst>
          </p:cNvPr>
          <p:cNvSpPr/>
          <p:nvPr/>
        </p:nvSpPr>
        <p:spPr>
          <a:xfrm>
            <a:off x="374694" y="5250611"/>
            <a:ext cx="1914181" cy="2760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C2C2F6-A547-1211-4864-6D9CAC90ED27}"/>
              </a:ext>
            </a:extLst>
          </p:cNvPr>
          <p:cNvSpPr/>
          <p:nvPr/>
        </p:nvSpPr>
        <p:spPr>
          <a:xfrm>
            <a:off x="374694" y="5612258"/>
            <a:ext cx="1132053" cy="627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26E7F6-7658-269D-08D2-89672A164189}"/>
              </a:ext>
            </a:extLst>
          </p:cNvPr>
          <p:cNvSpPr/>
          <p:nvPr/>
        </p:nvSpPr>
        <p:spPr>
          <a:xfrm>
            <a:off x="7558260" y="4862422"/>
            <a:ext cx="286028" cy="2760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58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24679" y="1465357"/>
            <a:ext cx="8350625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변형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Dinov3-base + Transformer Decoder layer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Self-attention: 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 token(1)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noise token(20, 100)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Cross-attention: 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 token(392, 784) + latent token(8) + state token(1)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Denoising </a:t>
            </a:r>
            <a:r>
              <a:rPr lang="ko-KR" alt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횟수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(medium: 2, large: 1)</a:t>
            </a:r>
          </a:p>
        </p:txBody>
      </p:sp>
      <p:sp>
        <p:nvSpPr>
          <p:cNvPr id="4" name="모서리가 둥근 직사각형 11">
            <a:extLst>
              <a:ext uri="{FF2B5EF4-FFF2-40B4-BE49-F238E27FC236}">
                <a16:creationId xmlns:a16="http://schemas.microsoft.com/office/drawing/2014/main" id="{434B491D-43AD-1E9E-0AB7-9850C6A9A94D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Structure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45479-E309-C8A6-2012-3FE489E7E5A8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구현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008485C-952A-B6BB-C945-A5043320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62" y="3900501"/>
            <a:ext cx="5842958" cy="220532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C18B6F-A897-82C8-80BB-C65BCB68CAC2}"/>
              </a:ext>
            </a:extLst>
          </p:cNvPr>
          <p:cNvSpPr/>
          <p:nvPr/>
        </p:nvSpPr>
        <p:spPr>
          <a:xfrm>
            <a:off x="3155869" y="5780315"/>
            <a:ext cx="805544" cy="2830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195B1A9-EC4D-6891-4B6C-47FE2FE8DE49}"/>
              </a:ext>
            </a:extLst>
          </p:cNvPr>
          <p:cNvSpPr/>
          <p:nvPr/>
        </p:nvSpPr>
        <p:spPr>
          <a:xfrm>
            <a:off x="4004955" y="5270242"/>
            <a:ext cx="805544" cy="2830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6987DD-422A-97BA-67BD-61348010E993}"/>
              </a:ext>
            </a:extLst>
          </p:cNvPr>
          <p:cNvSpPr/>
          <p:nvPr/>
        </p:nvSpPr>
        <p:spPr>
          <a:xfrm>
            <a:off x="5651419" y="4724581"/>
            <a:ext cx="805544" cy="2830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021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25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11958</TotalTime>
  <Words>1382</Words>
  <Application>Microsoft Office PowerPoint</Application>
  <PresentationFormat>화면 슬라이드 쇼(4:3)</PresentationFormat>
  <Paragraphs>294</Paragraphs>
  <Slides>25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Times New Roman</vt:lpstr>
      <vt:lpstr>Cambria Math</vt:lpstr>
      <vt:lpstr>Calibri Light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1268</cp:revision>
  <dcterms:created xsi:type="dcterms:W3CDTF">2023-11-18T11:43:47Z</dcterms:created>
  <dcterms:modified xsi:type="dcterms:W3CDTF">2026-07-07T08:19:58Z</dcterms:modified>
</cp:coreProperties>
</file>