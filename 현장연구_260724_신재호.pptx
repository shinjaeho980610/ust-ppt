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7"/>
  </p:notesMasterIdLst>
  <p:sldIdLst>
    <p:sldId id="256" r:id="rId2"/>
    <p:sldId id="521" r:id="rId3"/>
    <p:sldId id="531" r:id="rId4"/>
    <p:sldId id="543" r:id="rId5"/>
    <p:sldId id="541" r:id="rId6"/>
    <p:sldId id="544" r:id="rId7"/>
    <p:sldId id="550" r:id="rId8"/>
    <p:sldId id="545" r:id="rId9"/>
    <p:sldId id="549" r:id="rId10"/>
    <p:sldId id="548" r:id="rId11"/>
    <p:sldId id="547" r:id="rId12"/>
    <p:sldId id="554" r:id="rId13"/>
    <p:sldId id="551" r:id="rId14"/>
    <p:sldId id="552" r:id="rId15"/>
    <p:sldId id="553" r:id="rId16"/>
    <p:sldId id="546" r:id="rId17"/>
    <p:sldId id="556" r:id="rId18"/>
    <p:sldId id="555" r:id="rId19"/>
    <p:sldId id="557" r:id="rId20"/>
    <p:sldId id="558" r:id="rId21"/>
    <p:sldId id="560" r:id="rId22"/>
    <p:sldId id="561" r:id="rId23"/>
    <p:sldId id="559" r:id="rId24"/>
    <p:sldId id="562" r:id="rId25"/>
    <p:sldId id="348" r:id="rId26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030"/>
    <a:srgbClr val="029AD9"/>
    <a:srgbClr val="E6E5E4"/>
    <a:srgbClr val="FFC979"/>
    <a:srgbClr val="FFFFFF"/>
    <a:srgbClr val="A7A9AC"/>
    <a:srgbClr val="22A7DE"/>
    <a:srgbClr val="FFF4E5"/>
    <a:srgbClr val="FFE4BD"/>
    <a:srgbClr val="FFB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3" autoAdjust="0"/>
    <p:restoredTop sz="81019" autoAdjust="0"/>
  </p:normalViewPr>
  <p:slideViewPr>
    <p:cSldViewPr snapToGrid="0">
      <p:cViewPr varScale="1">
        <p:scale>
          <a:sx n="71" d="100"/>
          <a:sy n="71" d="100"/>
        </p:scale>
        <p:origin x="193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54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4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87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35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53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90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36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61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25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07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90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76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69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71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7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70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00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960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258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25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635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45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9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2026-07-24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2026-07-24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747163" y="3167390"/>
            <a:ext cx="1641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08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582760"/>
            <a:ext cx="8350625" cy="337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environment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추가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Humanoid gen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연동확인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성공률은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11%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때로 낮음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training dataset: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24000 episodes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Robocasa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tabletop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연동확인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Hz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동작확인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학습을 시켜보진 않음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47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582760"/>
            <a:ext cx="8350625" cy="226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기존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구조에서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전달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전달 방식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변경실험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Qwen2.5-7B, Qwen3-8B, Qwen3.5-4B (freeze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및 마지막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전달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마지막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마지막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(raw,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전달 방식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action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직접 전달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Film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은 시간 상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policy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고정하였음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(Temporal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711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24679" y="1465357"/>
            <a:ext cx="8350625" cy="484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이전 버전 사용 프롬프트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(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기존 추출 방식 확장버전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마지막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사용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im_start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|&gt;system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You are a single-arm gripper-type robot. You have just received the following images from two cameras.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im_end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im_start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|&gt;user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Picture 1: 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vision_start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image_pad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b="1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×64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vision_end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 - Captured by the camera positioned directly above the robot.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Picture 2: 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vision_start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image_pad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b="1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×64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vision_end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 - Captured by the wrist-mounted camera.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How should you move when you need to {task}?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im_end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im_start</a:t>
            </a:r>
            <a:r>
              <a:rPr lang="en-US" altLang="ko-KR" sz="1600" dirty="0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&lt;think&gt;</a:t>
            </a:r>
            <a:r>
              <a:rPr lang="en-US" altLang="ko-KR" sz="1600" b="1" dirty="0">
                <a:highlight>
                  <a:srgbClr val="E6E5E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\n\n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029AD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&lt;/think&gt;</a:t>
            </a:r>
            <a:r>
              <a:rPr lang="en-US" altLang="ko-KR" sz="1600" b="1" dirty="0">
                <a:highlight>
                  <a:srgbClr val="E6E5E4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\n\n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78F2C2-2E94-FE0D-E00C-F3447F5B804A}"/>
              </a:ext>
            </a:extLst>
          </p:cNvPr>
          <p:cNvSpPr/>
          <p:nvPr/>
        </p:nvSpPr>
        <p:spPr>
          <a:xfrm>
            <a:off x="374694" y="5250611"/>
            <a:ext cx="1914181" cy="2760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C2C2F6-A547-1211-4864-6D9CAC90ED27}"/>
              </a:ext>
            </a:extLst>
          </p:cNvPr>
          <p:cNvSpPr/>
          <p:nvPr/>
        </p:nvSpPr>
        <p:spPr>
          <a:xfrm>
            <a:off x="374694" y="5612258"/>
            <a:ext cx="1132053" cy="627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26E7F6-7658-269D-08D2-89672A164189}"/>
              </a:ext>
            </a:extLst>
          </p:cNvPr>
          <p:cNvSpPr/>
          <p:nvPr/>
        </p:nvSpPr>
        <p:spPr>
          <a:xfrm>
            <a:off x="7558260" y="4862422"/>
            <a:ext cx="286028" cy="2760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5A1E4AC-FCED-23A8-42A2-B55F09650842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A0C1B-4BA5-5AE4-9F18-F1FABE68651E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25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9B5E2D-F939-06A5-3C84-DFD9503652B7}"/>
                  </a:ext>
                </a:extLst>
              </p:cNvPr>
              <p:cNvSpPr txBox="1"/>
              <p:nvPr/>
            </p:nvSpPr>
            <p:spPr>
              <a:xfrm>
                <a:off x="324679" y="1582760"/>
                <a:ext cx="8350625" cy="3002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dp-vla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(7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월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주차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Libero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와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robocasa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-tabletop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에서 성능평가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Libero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평가 성공률이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40%~88% 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사이에 정체되었음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Qwen3.5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사용 시 오히려 성능이 크게 감소하였음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여러 구조 변경 시 성공률이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5%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에서 크게 벗어나지 않음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기존 연결방식에 한계가 있다 결론을 내림</a:t>
                </a:r>
                <a:endPara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추가로 현재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qwen3.5-4B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를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차적으로 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pretraining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하는 중이라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Qwen3.5-4B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와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dpvla</a:t>
                </a:r>
                <a:r>
                  <a:rPr lang="ko-KR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의 효율적인 결합방법이 필요함</a:t>
                </a: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9B5E2D-F939-06A5-3C84-DFD950365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79" y="1582760"/>
                <a:ext cx="8350625" cy="3002745"/>
              </a:xfrm>
              <a:prstGeom prst="rect">
                <a:avLst/>
              </a:prstGeom>
              <a:blipFill>
                <a:blip r:embed="rId3"/>
                <a:stretch>
                  <a:fillRect l="-292" b="-18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864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FAFC770-0134-45F9-2EBB-89D3CAC7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38" y="1606898"/>
            <a:ext cx="5377248" cy="453571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4FCA623-48BA-666E-4DAD-C5918B739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526" y="2468109"/>
            <a:ext cx="2852838" cy="288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2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582760"/>
            <a:ext cx="8350625" cy="1894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전체 학습시키는 방식으로 결정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전체 학습 시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시간이 오래 걸림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Qwen3.5-0.8B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적합한 구조를 찾은 뒤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Qwen3.5-4B, 9B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확장하는 식으로 결정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200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488629"/>
            <a:ext cx="8350625" cy="484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고려한 구조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 &amp; System1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연결 방식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Gr00t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방식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Q-former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Readout token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추가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Readout token + instruction embedding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추가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template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template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동작방식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w temporal ensemble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w/o temporal ensemble +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receding horizon control (diffusion policy)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위 구조에서 성능이 가장 좋았던 구조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개를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FM </a:t>
            </a: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학습하여 평가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3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26F390-B52B-8057-3EC6-1E0EA8A9D428}"/>
              </a:ext>
            </a:extLst>
          </p:cNvPr>
          <p:cNvSpPr txBox="1"/>
          <p:nvPr/>
        </p:nvSpPr>
        <p:spPr>
          <a:xfrm>
            <a:off x="324679" y="1465357"/>
            <a:ext cx="8350625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template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Readout token, gr00t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im_start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|&gt;user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Front view 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vision_start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image_pad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b="1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×64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vision_end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 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endParaRPr lang="en-US" altLang="ko-KR" sz="1600" dirty="0">
              <a:highlight>
                <a:srgbClr val="FFC97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Wrist view: 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vision_start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image_pad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b="1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×64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vision_end</a:t>
            </a: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\n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highlight>
                  <a:srgbClr val="FFC979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Instruction: {task}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im_end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|&gt;</a:t>
            </a:r>
            <a:r>
              <a:rPr lang="en-US" altLang="ko-KR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ko-KR" sz="16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readout_token</a:t>
            </a:r>
            <a:r>
              <a:rPr lang="en-US" altLang="ko-KR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&gt;×32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26E7F6-7658-269D-08D2-89672A164189}"/>
              </a:ext>
            </a:extLst>
          </p:cNvPr>
          <p:cNvSpPr/>
          <p:nvPr/>
        </p:nvSpPr>
        <p:spPr>
          <a:xfrm>
            <a:off x="1332271" y="3033620"/>
            <a:ext cx="4086894" cy="260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5A1E4AC-FCED-23A8-42A2-B55F09650842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A0C1B-4BA5-5AE4-9F18-F1FABE68651E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71CC80-4FC2-0758-8341-C1E38665BF7E}"/>
              </a:ext>
            </a:extLst>
          </p:cNvPr>
          <p:cNvSpPr/>
          <p:nvPr/>
        </p:nvSpPr>
        <p:spPr>
          <a:xfrm>
            <a:off x="1330030" y="3422247"/>
            <a:ext cx="4086894" cy="260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913B47-B26D-E8EA-EE8D-1C5AD075200B}"/>
              </a:ext>
            </a:extLst>
          </p:cNvPr>
          <p:cNvSpPr/>
          <p:nvPr/>
        </p:nvSpPr>
        <p:spPr>
          <a:xfrm>
            <a:off x="1376425" y="3774727"/>
            <a:ext cx="559951" cy="260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CE91C4-A65A-D5D2-5B3D-A754F8FA291E}"/>
              </a:ext>
            </a:extLst>
          </p:cNvPr>
          <p:cNvSpPr/>
          <p:nvPr/>
        </p:nvSpPr>
        <p:spPr>
          <a:xfrm>
            <a:off x="2416330" y="2319580"/>
            <a:ext cx="858029" cy="260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1F88CE-7A4C-41D6-A48D-36AE16201BDA}"/>
              </a:ext>
            </a:extLst>
          </p:cNvPr>
          <p:cNvSpPr/>
          <p:nvPr/>
        </p:nvSpPr>
        <p:spPr>
          <a:xfrm>
            <a:off x="1169876" y="2315995"/>
            <a:ext cx="1169876" cy="28466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11395C6-F70F-7975-BF0E-B4072A6D4005}"/>
              </a:ext>
            </a:extLst>
          </p:cNvPr>
          <p:cNvSpPr/>
          <p:nvPr/>
        </p:nvSpPr>
        <p:spPr>
          <a:xfrm>
            <a:off x="394428" y="4137068"/>
            <a:ext cx="1891571" cy="26029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390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11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488629"/>
            <a:ext cx="8350625" cy="26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기존 </a:t>
            </a: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dpvla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일반적인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VLM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사용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이미지와 지시문을 모두 읽었고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assistant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응답을 생성하기 직전 상태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(gr00t,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pi0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등 대부분의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extractor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사용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이미지와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지시문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입력이 끝난 상태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입력 인코딩이 완료된 표현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93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BECDFED-A06D-CB25-B3F7-040698F62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493" y="1533761"/>
            <a:ext cx="5404872" cy="33217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3428AE-1BA5-C915-DEB7-4A32980EA174}"/>
              </a:ext>
            </a:extLst>
          </p:cNvPr>
          <p:cNvSpPr txBox="1"/>
          <p:nvPr/>
        </p:nvSpPr>
        <p:spPr>
          <a:xfrm>
            <a:off x="324679" y="4957317"/>
            <a:ext cx="8350625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readout token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사용한 모델의 성능이 가장 좋음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낮은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학습하기 보다는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과 비슷한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학습한게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성능이 더 높음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065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5A1E4AC-FCED-23A8-42A2-B55F09650842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A0C1B-4BA5-5AE4-9F18-F1FABE68651E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D803024-3965-7F87-61A8-32D34C4C0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010" y="1563016"/>
            <a:ext cx="5308104" cy="4423422"/>
          </a:xfrm>
          <a:prstGeom prst="rect">
            <a:avLst/>
          </a:prstGeom>
        </p:spPr>
      </p:pic>
      <p:sp>
        <p:nvSpPr>
          <p:cNvPr id="21" name="모서리가 둥근 직사각형 11">
            <a:extLst>
              <a:ext uri="{FF2B5EF4-FFF2-40B4-BE49-F238E27FC236}">
                <a16:creationId xmlns:a16="http://schemas.microsoft.com/office/drawing/2014/main" id="{B971DDA1-4842-BA78-3C1F-E40F85F535C4}"/>
              </a:ext>
            </a:extLst>
          </p:cNvPr>
          <p:cNvSpPr/>
          <p:nvPr/>
        </p:nvSpPr>
        <p:spPr>
          <a:xfrm>
            <a:off x="1972686" y="5756475"/>
            <a:ext cx="2391626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2" name="모서리가 둥근 직사각형 11">
            <a:extLst>
              <a:ext uri="{FF2B5EF4-FFF2-40B4-BE49-F238E27FC236}">
                <a16:creationId xmlns:a16="http://schemas.microsoft.com/office/drawing/2014/main" id="{DABBE6C2-0EF6-D046-8E06-AEE0EBDDA172}"/>
              </a:ext>
            </a:extLst>
          </p:cNvPr>
          <p:cNvSpPr/>
          <p:nvPr/>
        </p:nvSpPr>
        <p:spPr>
          <a:xfrm>
            <a:off x="4830488" y="5765873"/>
            <a:ext cx="2391626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w/o TE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55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모서리가 둥근 직사각형 11">
            <a:extLst>
              <a:ext uri="{FF2B5EF4-FFF2-40B4-BE49-F238E27FC236}">
                <a16:creationId xmlns:a16="http://schemas.microsoft.com/office/drawing/2014/main" id="{45A1E4AC-FCED-23A8-42A2-B55F09650842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A0C1B-4BA5-5AE4-9F18-F1FABE68651E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5FD1E0-30A5-773D-AE7F-E67710A34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56" y="1534299"/>
            <a:ext cx="5901612" cy="4501232"/>
          </a:xfrm>
          <a:prstGeom prst="rect">
            <a:avLst/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971DDA1-4842-BA78-3C1F-E40F85F535C4}"/>
              </a:ext>
            </a:extLst>
          </p:cNvPr>
          <p:cNvSpPr/>
          <p:nvPr/>
        </p:nvSpPr>
        <p:spPr>
          <a:xfrm>
            <a:off x="1696915" y="5765873"/>
            <a:ext cx="2391626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rec-8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모서리가 둥근 직사각형 11">
            <a:extLst>
              <a:ext uri="{FF2B5EF4-FFF2-40B4-BE49-F238E27FC236}">
                <a16:creationId xmlns:a16="http://schemas.microsoft.com/office/drawing/2014/main" id="{DABBE6C2-0EF6-D046-8E06-AEE0EBDDA172}"/>
              </a:ext>
            </a:extLst>
          </p:cNvPr>
          <p:cNvSpPr/>
          <p:nvPr/>
        </p:nvSpPr>
        <p:spPr>
          <a:xfrm>
            <a:off x="5135118" y="5746824"/>
            <a:ext cx="2391626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향후 학습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84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67B437-7A9D-C309-4BC8-81DE0BD7B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04" y="1491791"/>
            <a:ext cx="7894576" cy="33497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7737F0-EFAD-4D02-AB71-89387139B7C4}"/>
              </a:ext>
            </a:extLst>
          </p:cNvPr>
          <p:cNvSpPr txBox="1"/>
          <p:nvPr/>
        </p:nvSpPr>
        <p:spPr>
          <a:xfrm>
            <a:off x="324679" y="4957317"/>
            <a:ext cx="8350625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대부분의 경우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ensemble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사용이 성능이 낮았음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모든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다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931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488629"/>
            <a:ext cx="8350625" cy="4110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dp-vla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월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주차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Libero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System2: 5hz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학습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Qwen3.5-0.8B readout token + ACT w/o Temporal ensemble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전체 성공률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92.8%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spatial(92.8%), object(99.4%), goal(91.4%), long(87.6%)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Qwen3.5-0.8B readout token + FM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전체 성공률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96.6%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spatial(94.4%), object(98.8%), goal(95.6%), long(94.4%)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Qwen3.5-4B readout token + ACT, FM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학습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Qwen3.5-9B readout token + ACT, FM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학습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9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9B5E2D-F939-06A5-3C84-DFD9503652B7}"/>
                  </a:ext>
                </a:extLst>
              </p:cNvPr>
              <p:cNvSpPr txBox="1"/>
              <p:nvPr/>
            </p:nvSpPr>
            <p:spPr>
              <a:xfrm>
                <a:off x="324679" y="1488629"/>
                <a:ext cx="8350625" cy="4110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dp-vla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(7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월 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주차</a:t>
                </a:r>
                <a:r>
                  <a:rPr lang="en-US" altLang="ko-KR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Libero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Qwen3.5-0.8B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size: 512 (32 batch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8, 2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accum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20,000 steps, 19epochs, 5 hours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Qwen3.5-4B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size: (16 batch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8, 4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accum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40,000 steps, 19epochs, 15 hours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Qwen3.5-9B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size: (8 batch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8, 8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accum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16573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80,000 steps, 19epochs, 45 hours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9B5E2D-F939-06A5-3C84-DFD950365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79" y="1488629"/>
                <a:ext cx="8350625" cy="4110741"/>
              </a:xfrm>
              <a:prstGeom prst="rect">
                <a:avLst/>
              </a:prstGeom>
              <a:blipFill>
                <a:blip r:embed="rId3"/>
                <a:stretch>
                  <a:fillRect l="-292" b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372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DCC11CB-4C38-2DDD-4678-4F86EB7E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65" y="1471308"/>
            <a:ext cx="7013794" cy="481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35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488629"/>
            <a:ext cx="8350625" cy="300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추후 계획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dpvla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새 구조를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g1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평가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dpvla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선택하는 방식 개선 및 검증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평가 환경 확장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humanoid gen &gt;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robocasa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tabletop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starvla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기반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dpvla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server-client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 동작하도록 구현하여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입출력만 맞추면 가능한 대부분의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추론이 가능함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676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2719030"/>
            <a:ext cx="8350625" cy="300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추후 계획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예측한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을 얼마나 사용할지를 작업 특성에 따라 선택적으로 실행하는 알고리즘 개발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단순 이동 구간에서는 예측된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전체를 실행하여 동작 효율성 향상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정교한 조작이 필요한 구간에서는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일부만 실행한 후 새로운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재예측하여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제어 정밀도 향상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과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비동기적으로 동작하므로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System 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높은 연산 비용이 전체 제어 주기에 미치는 영향을 최소화할 수 있음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441992-7F54-327B-E935-C3DDA794E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057"/>
          <a:stretch/>
        </p:blipFill>
        <p:spPr>
          <a:xfrm>
            <a:off x="552704" y="1491791"/>
            <a:ext cx="7894576" cy="110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85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21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528962"/>
            <a:ext cx="8350625" cy="26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추후 계획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모델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Chunk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Chunk1 20 use → Chunk1 11 use → Chunk3 3 use → Chunk3 4 3use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Gr00t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계열의 모형은 매 예측 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system2(VLM)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도 함께 예측하므로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끊기는 빈도↑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별개로 동작하므로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가벼운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만 돌리면 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30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3317419"/>
            <a:ext cx="8350625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추후 계획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random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개를 넣어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denoising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완료된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중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큰 시점 전 까지만 사용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자체가 크지 않아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기준치를 임의로 지정함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2~3 use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대부분 선택되었고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성능이 오히려 감소하였음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libero10: 89.6% (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원래모델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94.4%)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다른 방안 찾는 중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E897C5E-EDD0-24E4-0E52-9D401EF09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193" y="1542584"/>
            <a:ext cx="6305596" cy="163831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724AF6-9868-4B27-BCA9-823E9A51A8BF}"/>
              </a:ext>
            </a:extLst>
          </p:cNvPr>
          <p:cNvSpPr/>
          <p:nvPr/>
        </p:nvSpPr>
        <p:spPr>
          <a:xfrm>
            <a:off x="1963270" y="1855695"/>
            <a:ext cx="2138082" cy="1163170"/>
          </a:xfrm>
          <a:prstGeom prst="rect">
            <a:avLst/>
          </a:prstGeom>
          <a:noFill/>
          <a:ln w="38100">
            <a:solidFill>
              <a:srgbClr val="EF4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5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FB08405-F1EB-E603-6469-CBE6DE40E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897" y="1661619"/>
            <a:ext cx="2380064" cy="442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18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summary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B5E2D-F939-06A5-3C84-DFD9503652B7}"/>
              </a:ext>
            </a:extLst>
          </p:cNvPr>
          <p:cNvSpPr txBox="1"/>
          <p:nvPr/>
        </p:nvSpPr>
        <p:spPr>
          <a:xfrm>
            <a:off x="324679" y="1488629"/>
            <a:ext cx="8350625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추후 계획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Agibot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Robomind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subset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다운완료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 및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starvla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로딩 확인 중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</a:t>
            </a:r>
            <a:r>
              <a: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스토리지 확장 완료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시 다운로드예정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855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25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12485</TotalTime>
  <Words>1073</Words>
  <Application>Microsoft Office PowerPoint</Application>
  <PresentationFormat>화면 슬라이드 쇼(4:3)</PresentationFormat>
  <Paragraphs>222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Arial</vt:lpstr>
      <vt:lpstr>Calibri</vt:lpstr>
      <vt:lpstr>Times New Roman</vt:lpstr>
      <vt:lpstr>Cambria Math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1339</cp:revision>
  <dcterms:created xsi:type="dcterms:W3CDTF">2023-11-18T11:43:47Z</dcterms:created>
  <dcterms:modified xsi:type="dcterms:W3CDTF">2026-07-24T01:05:33Z</dcterms:modified>
</cp:coreProperties>
</file>