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28"/>
  </p:notesMasterIdLst>
  <p:sldIdLst>
    <p:sldId id="256" r:id="rId2"/>
    <p:sldId id="418" r:id="rId3"/>
    <p:sldId id="471" r:id="rId4"/>
    <p:sldId id="515" r:id="rId5"/>
    <p:sldId id="512" r:id="rId6"/>
    <p:sldId id="513" r:id="rId7"/>
    <p:sldId id="516" r:id="rId8"/>
    <p:sldId id="514" r:id="rId9"/>
    <p:sldId id="517" r:id="rId10"/>
    <p:sldId id="479" r:id="rId11"/>
    <p:sldId id="500" r:id="rId12"/>
    <p:sldId id="518" r:id="rId13"/>
    <p:sldId id="523" r:id="rId14"/>
    <p:sldId id="525" r:id="rId15"/>
    <p:sldId id="526" r:id="rId16"/>
    <p:sldId id="527" r:id="rId17"/>
    <p:sldId id="519" r:id="rId18"/>
    <p:sldId id="521" r:id="rId19"/>
    <p:sldId id="522" r:id="rId20"/>
    <p:sldId id="528" r:id="rId21"/>
    <p:sldId id="502" r:id="rId22"/>
    <p:sldId id="503" r:id="rId23"/>
    <p:sldId id="520" r:id="rId24"/>
    <p:sldId id="529" r:id="rId25"/>
    <p:sldId id="348" r:id="rId26"/>
    <p:sldId id="524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030"/>
    <a:srgbClr val="029AD9"/>
    <a:srgbClr val="FFFFFF"/>
    <a:srgbClr val="A7A9AC"/>
    <a:srgbClr val="22A7DE"/>
    <a:srgbClr val="FFF4E5"/>
    <a:srgbClr val="FFE4BD"/>
    <a:srgbClr val="FFC979"/>
    <a:srgbClr val="FFB13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03" autoAdjust="0"/>
    <p:restoredTop sz="97135" autoAdjust="0"/>
  </p:normalViewPr>
  <p:slideViewPr>
    <p:cSldViewPr snapToGrid="0">
      <p:cViewPr varScale="1">
        <p:scale>
          <a:sx n="120" d="100"/>
          <a:sy n="120" d="100"/>
        </p:scale>
        <p:origin x="5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AC964-12A1-4980-831F-9251541E5CA8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2670E-6FAD-4C48-8ED4-BDC5F72495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58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2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00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16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76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98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41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17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25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192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4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25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97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93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65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91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37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257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58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0826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37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2670E-6FAD-4C48-8ED4-BDC5F724959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81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39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771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96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781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78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677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28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1810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79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370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438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51AA8-D1F0-4A16-98F3-EB1CFB4F708D}" type="datetimeFigureOut">
              <a:rPr lang="ko-KR" altLang="en-US" smtClean="0"/>
              <a:t>2026-05-21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E238B-D95E-41E8-BF0F-53A96476A3C0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68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5.mp4"/><Relationship Id="rId7" Type="http://schemas.openxmlformats.org/officeDocument/2006/relationships/image" Target="../media/image6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5.mp4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media" Target="../media/media7.mp4"/><Relationship Id="rId7" Type="http://schemas.openxmlformats.org/officeDocument/2006/relationships/image" Target="../media/image9.png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7.mp4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media" Target="../media/media10.mp4"/><Relationship Id="rId7" Type="http://schemas.openxmlformats.org/officeDocument/2006/relationships/image" Target="../media/image14.png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10.mp4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microsoft.com/office/2007/relationships/media" Target="../media/media12.mp4"/><Relationship Id="rId7" Type="http://schemas.openxmlformats.org/officeDocument/2006/relationships/image" Target="../media/image17.png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12.mp4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EC5B4C1-AC69-CF2F-24FB-F2522DA3CF33}"/>
              </a:ext>
            </a:extLst>
          </p:cNvPr>
          <p:cNvCxnSpPr/>
          <p:nvPr/>
        </p:nvCxnSpPr>
        <p:spPr>
          <a:xfrm>
            <a:off x="683568" y="3140968"/>
            <a:ext cx="7560840" cy="0"/>
          </a:xfrm>
          <a:prstGeom prst="line">
            <a:avLst/>
          </a:prstGeom>
          <a:ln w="28575">
            <a:solidFill>
              <a:srgbClr val="029A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0FB907-6EFE-2FC6-CF17-6A142B10B76F}"/>
              </a:ext>
            </a:extLst>
          </p:cNvPr>
          <p:cNvSpPr txBox="1"/>
          <p:nvPr/>
        </p:nvSpPr>
        <p:spPr>
          <a:xfrm>
            <a:off x="7104961" y="3256228"/>
            <a:ext cx="1143262" cy="786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2026-05-22</a:t>
            </a: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Shin </a:t>
            </a:r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JaeHo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1">
            <a:extLst>
              <a:ext uri="{FF2B5EF4-FFF2-40B4-BE49-F238E27FC236}">
                <a16:creationId xmlns:a16="http://schemas.microsoft.com/office/drawing/2014/main" id="{B1282A7B-A968-4BD5-87DF-0C6BECC7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</a:t>
            </a:fld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8BA3CE3-882C-4163-9532-DEB9C421444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102C54-B464-40BF-AD57-A94FDC2AE3C8}"/>
              </a:ext>
            </a:extLst>
          </p:cNvPr>
          <p:cNvSpPr txBox="1"/>
          <p:nvPr/>
        </p:nvSpPr>
        <p:spPr>
          <a:xfrm>
            <a:off x="683567" y="2532622"/>
            <a:ext cx="7416091" cy="579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현장연구</a:t>
            </a:r>
            <a:endParaRPr lang="en-US" altLang="ko-KR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2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92506" y="3167390"/>
            <a:ext cx="1951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Libero-eval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9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Libero-spatial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Libero-eval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D93F914-8C3B-ED33-1F08-319FB9CC40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401" y="2079054"/>
            <a:ext cx="4363498" cy="18394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FE2C96-D356-1512-A65B-C5B1E8B4EB3C}"/>
              </a:ext>
            </a:extLst>
          </p:cNvPr>
          <p:cNvSpPr txBox="1"/>
          <p:nvPr/>
        </p:nvSpPr>
        <p:spPr>
          <a:xfrm>
            <a:off x="392749" y="4550332"/>
            <a:ext cx="8350625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동작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물체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목적지가 모두 같음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그릇 위치만 다름 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공간 추론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그릇을 공간적으로 찾는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능력</a:t>
            </a:r>
            <a:endParaRPr lang="en-US" altLang="ko-K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dp-vla SR: 86.87% (full) → 85.07% (1)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spatial_fail">
            <a:hlinkClick r:id="" action="ppaction://media"/>
            <a:extLst>
              <a:ext uri="{FF2B5EF4-FFF2-40B4-BE49-F238E27FC236}">
                <a16:creationId xmlns:a16="http://schemas.microsoft.com/office/drawing/2014/main" id="{15A5CBB6-D4D8-0B21-5D08-58CED6CFE7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851990" y="2194230"/>
            <a:ext cx="1625600" cy="1625600"/>
          </a:xfrm>
          <a:prstGeom prst="rect">
            <a:avLst/>
          </a:prstGeom>
        </p:spPr>
      </p:pic>
      <p:pic>
        <p:nvPicPr>
          <p:cNvPr id="20" name="spatial_success">
            <a:hlinkClick r:id="" action="ppaction://media"/>
            <a:extLst>
              <a:ext uri="{FF2B5EF4-FFF2-40B4-BE49-F238E27FC236}">
                <a16:creationId xmlns:a16="http://schemas.microsoft.com/office/drawing/2014/main" id="{4BB6BC80-A4FE-8734-F909-9A8D947B4DD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857068" y="2194230"/>
            <a:ext cx="1625600" cy="1625600"/>
          </a:xfrm>
          <a:prstGeom prst="rect">
            <a:avLst/>
          </a:prstGeom>
        </p:spPr>
      </p:pic>
      <p:sp>
        <p:nvSpPr>
          <p:cNvPr id="21" name="모서리가 둥근 직사각형 11">
            <a:extLst>
              <a:ext uri="{FF2B5EF4-FFF2-40B4-BE49-F238E27FC236}">
                <a16:creationId xmlns:a16="http://schemas.microsoft.com/office/drawing/2014/main" id="{B66258A9-47F5-B1E7-F0A7-6DC81FB909A5}"/>
              </a:ext>
            </a:extLst>
          </p:cNvPr>
          <p:cNvSpPr/>
          <p:nvPr/>
        </p:nvSpPr>
        <p:spPr>
          <a:xfrm>
            <a:off x="5256181" y="3681806"/>
            <a:ext cx="827374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Success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2" name="모서리가 둥근 직사각형 11">
            <a:extLst>
              <a:ext uri="{FF2B5EF4-FFF2-40B4-BE49-F238E27FC236}">
                <a16:creationId xmlns:a16="http://schemas.microsoft.com/office/drawing/2014/main" id="{EBD7FC9A-BC96-F836-9BF7-1AE10340D69C}"/>
              </a:ext>
            </a:extLst>
          </p:cNvPr>
          <p:cNvSpPr/>
          <p:nvPr/>
        </p:nvSpPr>
        <p:spPr>
          <a:xfrm>
            <a:off x="7251103" y="3678766"/>
            <a:ext cx="827374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Fail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3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34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7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Libero-spatial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Libero-eval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3806232-3068-68C1-1916-AF1DC38EA0DF}"/>
              </a:ext>
            </a:extLst>
          </p:cNvPr>
          <p:cNvGrpSpPr/>
          <p:nvPr/>
        </p:nvGrpSpPr>
        <p:grpSpPr>
          <a:xfrm>
            <a:off x="3737129" y="4230032"/>
            <a:ext cx="1625600" cy="1791256"/>
            <a:chOff x="1688607" y="4230032"/>
            <a:chExt cx="1625600" cy="1791256"/>
          </a:xfrm>
        </p:grpSpPr>
        <p:pic>
          <p:nvPicPr>
            <p:cNvPr id="17" name="1_spatial_bad">
              <a:hlinkClick r:id="" action="ppaction://media"/>
              <a:extLst>
                <a:ext uri="{FF2B5EF4-FFF2-40B4-BE49-F238E27FC236}">
                  <a16:creationId xmlns:a16="http://schemas.microsoft.com/office/drawing/2014/main" id="{1DAE4037-E481-F9B4-91C5-61A5027F66E9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5"/>
            <a:stretch>
              <a:fillRect/>
            </a:stretch>
          </p:blipFill>
          <p:spPr>
            <a:xfrm>
              <a:off x="1688607" y="4230032"/>
              <a:ext cx="1625600" cy="1625600"/>
            </a:xfrm>
            <a:prstGeom prst="rect">
              <a:avLst/>
            </a:prstGeom>
          </p:spPr>
        </p:pic>
        <p:sp>
          <p:nvSpPr>
            <p:cNvPr id="18" name="모서리가 둥근 직사각형 11">
              <a:extLst>
                <a:ext uri="{FF2B5EF4-FFF2-40B4-BE49-F238E27FC236}">
                  <a16:creationId xmlns:a16="http://schemas.microsoft.com/office/drawing/2014/main" id="{10C83124-3CF6-C492-5147-BD3CF9E69F02}"/>
                </a:ext>
              </a:extLst>
            </p:cNvPr>
            <p:cNvSpPr/>
            <p:nvPr/>
          </p:nvSpPr>
          <p:spPr>
            <a:xfrm>
              <a:off x="1953444" y="5739161"/>
              <a:ext cx="1132191" cy="282127"/>
            </a:xfrm>
            <a:prstGeom prst="roundRect">
              <a:avLst/>
            </a:prstGeom>
            <a:solidFill>
              <a:srgbClr val="FFF4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400" b="1">
                  <a:solidFill>
                    <a:schemeClr val="tx1"/>
                  </a:solidFill>
                  <a:latin typeface="Times New Roman" panose="02020603050405020304" pitchFamily="18" charset="0"/>
                  <a:ea typeface="맑은 고딕" panose="020B0503020000020004" pitchFamily="50" charset="-127"/>
                  <a:cs typeface="Times New Roman" panose="02020603050405020304" pitchFamily="18" charset="0"/>
                </a:rPr>
                <a:t>Task 6 Fail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7BE8251A-807D-5574-2FAC-28CDBC7B8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626" y="1532689"/>
            <a:ext cx="8172870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7126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Libero-object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Libero-eval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0BACC61-8988-E116-80D9-F7CC57982B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658" y="2096929"/>
            <a:ext cx="4363498" cy="18202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195F4B4-481D-4B5B-26D6-7FAA085E925F}"/>
              </a:ext>
            </a:extLst>
          </p:cNvPr>
          <p:cNvSpPr txBox="1"/>
          <p:nvPr/>
        </p:nvSpPr>
        <p:spPr>
          <a:xfrm>
            <a:off x="392749" y="4100632"/>
            <a:ext cx="8350625" cy="1992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동작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목적지 동일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물체 종류만 다름 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물체 인식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가 전부 똑같은 동작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목적지</a:t>
            </a:r>
            <a:endParaRPr lang="en-US" altLang="ko-K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물체를 집어 바구니에 넣기</a:t>
            </a: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” &gt;&gt; </a:t>
            </a:r>
            <a:r>
              <a: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차이는 물체 종류뿐</a:t>
            </a:r>
            <a:endParaRPr lang="en-US" altLang="ko-KR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Alphabet soup(100%), cream cheese(94%), salad dressing(100%), bbq sauce(92%), ketchup(100%), tomato sauce(96%), butter(100%), milk(100%), chocolate pudding(100%), orange juice (84%)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dp-vla SR: 96.6% (full) → 96.2% (1)</a:t>
            </a:r>
          </a:p>
        </p:txBody>
      </p:sp>
      <p:pic>
        <p:nvPicPr>
          <p:cNvPr id="23" name="object_success">
            <a:hlinkClick r:id="" action="ppaction://media"/>
            <a:extLst>
              <a:ext uri="{FF2B5EF4-FFF2-40B4-BE49-F238E27FC236}">
                <a16:creationId xmlns:a16="http://schemas.microsoft.com/office/drawing/2014/main" id="{D276FD23-83F6-70C6-8EAB-B633BA5372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57068" y="2197269"/>
            <a:ext cx="1625600" cy="1625600"/>
          </a:xfrm>
          <a:prstGeom prst="rect">
            <a:avLst/>
          </a:prstGeom>
        </p:spPr>
      </p:pic>
      <p:sp>
        <p:nvSpPr>
          <p:cNvPr id="24" name="모서리가 둥근 직사각형 11">
            <a:extLst>
              <a:ext uri="{FF2B5EF4-FFF2-40B4-BE49-F238E27FC236}">
                <a16:creationId xmlns:a16="http://schemas.microsoft.com/office/drawing/2014/main" id="{B6654D08-787A-B1C4-1A5C-242F3A067B47}"/>
              </a:ext>
            </a:extLst>
          </p:cNvPr>
          <p:cNvSpPr/>
          <p:nvPr/>
        </p:nvSpPr>
        <p:spPr>
          <a:xfrm>
            <a:off x="5256181" y="3681806"/>
            <a:ext cx="827374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Success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6" name="object_fail">
            <a:hlinkClick r:id="" action="ppaction://media"/>
            <a:extLst>
              <a:ext uri="{FF2B5EF4-FFF2-40B4-BE49-F238E27FC236}">
                <a16:creationId xmlns:a16="http://schemas.microsoft.com/office/drawing/2014/main" id="{96E0A027-CEEE-EB49-568D-E8B4AB8B017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850287" y="2194230"/>
            <a:ext cx="1625600" cy="1625600"/>
          </a:xfrm>
          <a:prstGeom prst="rect">
            <a:avLst/>
          </a:prstGeom>
        </p:spPr>
      </p:pic>
      <p:sp>
        <p:nvSpPr>
          <p:cNvPr id="27" name="모서리가 둥근 직사각형 11">
            <a:extLst>
              <a:ext uri="{FF2B5EF4-FFF2-40B4-BE49-F238E27FC236}">
                <a16:creationId xmlns:a16="http://schemas.microsoft.com/office/drawing/2014/main" id="{58FC8768-9379-FF04-F9B1-DE2326841B96}"/>
              </a:ext>
            </a:extLst>
          </p:cNvPr>
          <p:cNvSpPr/>
          <p:nvPr/>
        </p:nvSpPr>
        <p:spPr>
          <a:xfrm>
            <a:off x="7251103" y="3678766"/>
            <a:ext cx="827374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Fail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5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00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33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Libero-goal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4873497"/>
            <a:ext cx="8454395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목표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동작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자체가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마다 다름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목표 이해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같은 장면을 공유하지만 지시문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목표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모두 다름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서랍 열기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그릇 옮기기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스토브 켜기 등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dp-vla SR: 92.93% (full)</a:t>
            </a:r>
            <a:r>
              <a:rPr lang="en-US" altLang="ko-KR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78.07% (1)</a:t>
            </a:r>
            <a:endParaRPr lang="ko-KR" altLang="en-US" sz="1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Libero-eval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7684E18-0B0E-BFB6-3884-327EFD9E92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784" y="2243821"/>
            <a:ext cx="4336272" cy="1608254"/>
          </a:xfrm>
          <a:prstGeom prst="rect">
            <a:avLst/>
          </a:prstGeom>
        </p:spPr>
      </p:pic>
      <p:pic>
        <p:nvPicPr>
          <p:cNvPr id="26" name="goal_2">
            <a:hlinkClick r:id="" action="ppaction://media"/>
            <a:extLst>
              <a:ext uri="{FF2B5EF4-FFF2-40B4-BE49-F238E27FC236}">
                <a16:creationId xmlns:a16="http://schemas.microsoft.com/office/drawing/2014/main" id="{05732586-B35F-7F5E-4F8C-F9924C2377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57068" y="2194230"/>
            <a:ext cx="1625600" cy="1625600"/>
          </a:xfrm>
          <a:prstGeom prst="rect">
            <a:avLst/>
          </a:prstGeom>
        </p:spPr>
      </p:pic>
      <p:sp>
        <p:nvSpPr>
          <p:cNvPr id="27" name="모서리가 둥근 직사각형 11">
            <a:extLst>
              <a:ext uri="{FF2B5EF4-FFF2-40B4-BE49-F238E27FC236}">
                <a16:creationId xmlns:a16="http://schemas.microsoft.com/office/drawing/2014/main" id="{B6BF5A75-FCBB-5C6C-3C4D-18552E48D378}"/>
              </a:ext>
            </a:extLst>
          </p:cNvPr>
          <p:cNvSpPr/>
          <p:nvPr/>
        </p:nvSpPr>
        <p:spPr>
          <a:xfrm>
            <a:off x="5256181" y="3681806"/>
            <a:ext cx="827374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Goal 1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9" name="goal_1">
            <a:hlinkClick r:id="" action="ppaction://media"/>
            <a:extLst>
              <a:ext uri="{FF2B5EF4-FFF2-40B4-BE49-F238E27FC236}">
                <a16:creationId xmlns:a16="http://schemas.microsoft.com/office/drawing/2014/main" id="{A5FC0E04-C972-30F3-7714-A346CFB1980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850287" y="2194230"/>
            <a:ext cx="1625600" cy="1625600"/>
          </a:xfrm>
          <a:prstGeom prst="rect">
            <a:avLst/>
          </a:prstGeom>
        </p:spPr>
      </p:pic>
      <p:sp>
        <p:nvSpPr>
          <p:cNvPr id="30" name="모서리가 둥근 직사각형 11">
            <a:extLst>
              <a:ext uri="{FF2B5EF4-FFF2-40B4-BE49-F238E27FC236}">
                <a16:creationId xmlns:a16="http://schemas.microsoft.com/office/drawing/2014/main" id="{347B6DEA-2F8A-D7C3-D2AF-CA52B971AB11}"/>
              </a:ext>
            </a:extLst>
          </p:cNvPr>
          <p:cNvSpPr/>
          <p:nvPr/>
        </p:nvSpPr>
        <p:spPr>
          <a:xfrm>
            <a:off x="7251103" y="3678766"/>
            <a:ext cx="827374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Goal 2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94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0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200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Libero-goal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Libero-eval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5" name="3_goal_bad">
            <a:hlinkClick r:id="" action="ppaction://media"/>
            <a:extLst>
              <a:ext uri="{FF2B5EF4-FFF2-40B4-BE49-F238E27FC236}">
                <a16:creationId xmlns:a16="http://schemas.microsoft.com/office/drawing/2014/main" id="{353C3F9C-1753-BE01-4809-5483CE6988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737129" y="4230032"/>
            <a:ext cx="1625600" cy="1625600"/>
          </a:xfrm>
          <a:prstGeom prst="rect">
            <a:avLst/>
          </a:prstGeom>
        </p:spPr>
      </p:pic>
      <p:sp>
        <p:nvSpPr>
          <p:cNvPr id="26" name="모서리가 둥근 직사각형 11">
            <a:extLst>
              <a:ext uri="{FF2B5EF4-FFF2-40B4-BE49-F238E27FC236}">
                <a16:creationId xmlns:a16="http://schemas.microsoft.com/office/drawing/2014/main" id="{8E158D6E-5F48-BC1F-4DCA-BBB1A95AD2AB}"/>
              </a:ext>
            </a:extLst>
          </p:cNvPr>
          <p:cNvSpPr/>
          <p:nvPr/>
        </p:nvSpPr>
        <p:spPr>
          <a:xfrm>
            <a:off x="4001966" y="5739161"/>
            <a:ext cx="1132191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Task 3 Fail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13526725-10C0-A733-433A-DF7394E97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8549" y="1534299"/>
            <a:ext cx="6401129" cy="25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4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Libero-long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4866087"/>
            <a:ext cx="8454395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단계 복합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(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장기 계획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개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모두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하고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하기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복합 동작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두 개의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sub-goal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을 순서대로 완수해야 성공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latin typeface="Times New Roman" panose="02020603050405020304" pitchFamily="18" charset="0"/>
                <a:cs typeface="Times New Roman" panose="02020603050405020304" pitchFamily="18" charset="0"/>
              </a:rPr>
              <a:t>dp-vla SR: 79.4% (full) → 77.73% (1)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Libero-eval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6E6E111-F984-CC23-52AC-A9B03CD2F4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595" y="2132051"/>
            <a:ext cx="4464496" cy="2518848"/>
          </a:xfrm>
          <a:prstGeom prst="rect">
            <a:avLst/>
          </a:prstGeom>
        </p:spPr>
      </p:pic>
      <p:pic>
        <p:nvPicPr>
          <p:cNvPr id="24" name="long_2">
            <a:hlinkClick r:id="" action="ppaction://media"/>
            <a:extLst>
              <a:ext uri="{FF2B5EF4-FFF2-40B4-BE49-F238E27FC236}">
                <a16:creationId xmlns:a16="http://schemas.microsoft.com/office/drawing/2014/main" id="{85A7EA1F-6D9B-07D2-7027-DDD440CC766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57068" y="2194229"/>
            <a:ext cx="1625600" cy="1625600"/>
          </a:xfrm>
          <a:prstGeom prst="rect">
            <a:avLst/>
          </a:prstGeom>
        </p:spPr>
      </p:pic>
      <p:sp>
        <p:nvSpPr>
          <p:cNvPr id="25" name="모서리가 둥근 직사각형 11">
            <a:extLst>
              <a:ext uri="{FF2B5EF4-FFF2-40B4-BE49-F238E27FC236}">
                <a16:creationId xmlns:a16="http://schemas.microsoft.com/office/drawing/2014/main" id="{B7EBF85E-F22C-CF55-D8E2-B1312AEAB75C}"/>
              </a:ext>
            </a:extLst>
          </p:cNvPr>
          <p:cNvSpPr/>
          <p:nvPr/>
        </p:nvSpPr>
        <p:spPr>
          <a:xfrm>
            <a:off x="5256181" y="3681806"/>
            <a:ext cx="827374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Long 1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7" name="long_1">
            <a:hlinkClick r:id="" action="ppaction://media"/>
            <a:extLst>
              <a:ext uri="{FF2B5EF4-FFF2-40B4-BE49-F238E27FC236}">
                <a16:creationId xmlns:a16="http://schemas.microsoft.com/office/drawing/2014/main" id="{E68CF8F6-C1B4-CFAF-F8B6-E28CD467DA1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850287" y="2194229"/>
            <a:ext cx="1625600" cy="1625600"/>
          </a:xfrm>
          <a:prstGeom prst="rect">
            <a:avLst/>
          </a:prstGeom>
        </p:spPr>
      </p:pic>
      <p:sp>
        <p:nvSpPr>
          <p:cNvPr id="28" name="모서리가 둥근 직사각형 11">
            <a:extLst>
              <a:ext uri="{FF2B5EF4-FFF2-40B4-BE49-F238E27FC236}">
                <a16:creationId xmlns:a16="http://schemas.microsoft.com/office/drawing/2014/main" id="{64BD8710-65A6-B8A7-E0E0-B072B98A00B2}"/>
              </a:ext>
            </a:extLst>
          </p:cNvPr>
          <p:cNvSpPr/>
          <p:nvPr/>
        </p:nvSpPr>
        <p:spPr>
          <a:xfrm>
            <a:off x="7251103" y="3678766"/>
            <a:ext cx="827374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Long 2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3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67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820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Libero-long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Libero-eval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8" name="4_long_bad_1">
            <a:hlinkClick r:id="" action="ppaction://media"/>
            <a:extLst>
              <a:ext uri="{FF2B5EF4-FFF2-40B4-BE49-F238E27FC236}">
                <a16:creationId xmlns:a16="http://schemas.microsoft.com/office/drawing/2014/main" id="{24E7BBB5-3D28-8148-BA9B-1C9A36CC60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111529" y="4230032"/>
            <a:ext cx="1625600" cy="1625600"/>
          </a:xfrm>
          <a:prstGeom prst="rect">
            <a:avLst/>
          </a:prstGeom>
        </p:spPr>
      </p:pic>
      <p:pic>
        <p:nvPicPr>
          <p:cNvPr id="19" name="4_long_bad_2">
            <a:hlinkClick r:id="" action="ppaction://media"/>
            <a:extLst>
              <a:ext uri="{FF2B5EF4-FFF2-40B4-BE49-F238E27FC236}">
                <a16:creationId xmlns:a16="http://schemas.microsoft.com/office/drawing/2014/main" id="{E76FD95E-2E81-2A53-09BB-20E0DF8327E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358681" y="4230032"/>
            <a:ext cx="1625600" cy="1625600"/>
          </a:xfrm>
          <a:prstGeom prst="rect">
            <a:avLst/>
          </a:prstGeom>
        </p:spPr>
      </p:pic>
      <p:sp>
        <p:nvSpPr>
          <p:cNvPr id="20" name="모서리가 둥근 직사각형 11">
            <a:extLst>
              <a:ext uri="{FF2B5EF4-FFF2-40B4-BE49-F238E27FC236}">
                <a16:creationId xmlns:a16="http://schemas.microsoft.com/office/drawing/2014/main" id="{D16A5351-D11F-CDE2-EBC7-B5ABD8D8124D}"/>
              </a:ext>
            </a:extLst>
          </p:cNvPr>
          <p:cNvSpPr/>
          <p:nvPr/>
        </p:nvSpPr>
        <p:spPr>
          <a:xfrm>
            <a:off x="2358234" y="5739160"/>
            <a:ext cx="1132191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Task 6 Fail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1" name="모서리가 둥근 직사각형 11">
            <a:extLst>
              <a:ext uri="{FF2B5EF4-FFF2-40B4-BE49-F238E27FC236}">
                <a16:creationId xmlns:a16="http://schemas.microsoft.com/office/drawing/2014/main" id="{D7A634F0-BC11-6250-B86E-EC094051BD19}"/>
              </a:ext>
            </a:extLst>
          </p:cNvPr>
          <p:cNvSpPr/>
          <p:nvPr/>
        </p:nvSpPr>
        <p:spPr>
          <a:xfrm>
            <a:off x="5605385" y="5739160"/>
            <a:ext cx="1132191" cy="282127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Task 8 Fail</a:t>
            </a:r>
            <a:endParaRPr lang="ko-KR" altLang="en-US" sz="14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1C14E7C-1395-8FE9-5C4E-19E9ABE386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6730" y="1463729"/>
            <a:ext cx="6102664" cy="25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9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334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7334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338430" y="3167390"/>
            <a:ext cx="2459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10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790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11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Evaluation 1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2638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 freeze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실험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정량 평가 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(SR)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어느 시점에 끊는가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기존에는 갱신 횟수를 통일하여 비교했으나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마다 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갱신횟수가 다름</a:t>
            </a:r>
            <a:endParaRPr lang="en-US" altLang="ko-KR" sz="1400" b="1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 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별 평균 갱신횟수를 측정하고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이를 기준으로 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(0,25,50,full) 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비율로 끊는 시점 설정</a:t>
            </a:r>
            <a:endParaRPr lang="en-US" altLang="ko-KR" sz="1400" b="1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정확한 비교를 위해서 공식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libero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평가 방법 사용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episode per 50 * 3 seed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일부 값이 튀는 경우 방지와 공식 성능  비교를 위해서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901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</a:t>
            </a:r>
            <a:r>
              <a:rPr lang="ko-KR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를 어느 시점에 끊는가</a:t>
            </a:r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? (SR)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2F4540D-1C59-CDA6-0D9A-5C76E2BFA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596" y="1463729"/>
            <a:ext cx="5528932" cy="47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26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</a:t>
            </a:r>
            <a:r>
              <a:rPr lang="ko-KR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를 어느 시점에 끊는가</a:t>
            </a:r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? (SR) - spatial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6E0E36E-E1EB-61D6-A896-0E6BD0B34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89" y="1463729"/>
            <a:ext cx="7702946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721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</a:t>
            </a:r>
            <a:r>
              <a:rPr lang="ko-KR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를 어느 시점에 끊는가</a:t>
            </a:r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? (SR) - goal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8E60D56-8AC5-BE19-983F-B0E3618FD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408" y="1512940"/>
            <a:ext cx="5969307" cy="25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1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15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</a:t>
            </a:r>
            <a:r>
              <a:rPr lang="ko-KR" altLang="en-US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를 어느 시점에 끊는가</a:t>
            </a:r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? (SR) - long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2C54142-87A2-EE5C-4F1E-FD7CC85BE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41" y="1534299"/>
            <a:ext cx="7894576" cy="277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16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Evaluation 2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2315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System2 freeze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실험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정성 평가 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(Flip check)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만으로 비교 시 해석이 잘못 될 수 있음</a:t>
            </a:r>
            <a:endParaRPr lang="en-US" altLang="ko-KR" sz="1400" b="1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거의 변하지 않아도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실제로는 수백개의 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episode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↔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뒤집혔는데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우연히 상쇄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되었을수 있음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같은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epiosde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freeze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전후로 몇 개나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어느 방향으로 뒤집혔는지 측정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Episode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별로 바뀐 것이 어떤 경향이 있는지 분석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06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17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Flip check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8D7E884-0370-C2F5-82A8-716FD2644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694" y="1483999"/>
            <a:ext cx="5818736" cy="88865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E058698-1A94-C29B-BE5C-9B09D0AFF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126" y="2569384"/>
            <a:ext cx="7415872" cy="207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28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18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Flip check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0B9B07-DB42-8EE3-1D62-FC5A030CC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694" y="1446785"/>
            <a:ext cx="5818736" cy="88865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9ED538D-4318-69C3-2DA0-8F320967F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662" y="2496105"/>
            <a:ext cx="5222800" cy="215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507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19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Flip check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04D32-1926-DB48-F28A-16594C8C6F7A}"/>
              </a:ext>
            </a:extLst>
          </p:cNvPr>
          <p:cNvSpPr txBox="1"/>
          <p:nvPr/>
        </p:nvSpPr>
        <p:spPr>
          <a:xfrm>
            <a:off x="309595" y="1522138"/>
            <a:ext cx="8454395" cy="3607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비교해석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spatial, object, long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경우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vs frozen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차이가 작음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(−0.4 ~ −1.8%p)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겉보기엔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갱신이 약간 도움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같지만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작은 차이만으로는 판단 불가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와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비슷한 규모로 발생함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작은 향상은 양방향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우연히 상쇄된 결과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과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경우 수십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수백 개에서 발생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14550" lvl="4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경우 거의 없음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갱신하는 것이 안 하는 것 대비 큰 이득이 있다고 보기 어려움</a:t>
            </a:r>
            <a:endParaRPr lang="en-US" altLang="ko-KR" sz="1400" b="1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727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20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Flip check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System2 freeze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04D32-1926-DB48-F28A-16594C8C6F7A}"/>
              </a:ext>
            </a:extLst>
          </p:cNvPr>
          <p:cNvSpPr txBox="1"/>
          <p:nvPr/>
        </p:nvSpPr>
        <p:spPr>
          <a:xfrm>
            <a:off x="309595" y="1522138"/>
            <a:ext cx="8454395" cy="2638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비교해석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경우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vs frozen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차이가 큼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−14.9%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p, 92.9% → 78.1%)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갱신을 끄면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뚜렷하게 떨어짐 → 차이만으로도 갱신이 필요함이 드러남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case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의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배 이상 발생함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갱신하는 것이 하지 않는 것 대비 큰 이득이 있음 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일부 에피소드에서</a:t>
            </a:r>
            <a:r>
              <a:rPr lang="en-US" altLang="ko-KR" sz="14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66573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8388424" y="6353079"/>
            <a:ext cx="288032" cy="3941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403320" y="3167390"/>
            <a:ext cx="2329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G1 evaluation</a:t>
            </a:r>
            <a:endParaRPr lang="ko-KR" altLang="en-US" sz="28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21</a:t>
            </a:fld>
            <a:endParaRPr lang="ko-KR" altLang="en-US" sz="14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137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22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G1 evaluation code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3740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 evaluation </a:t>
            </a:r>
            <a:r>
              <a:rPr lang="ko-KR" altLang="en-US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코드 수정</a:t>
            </a:r>
            <a:endParaRPr lang="en-US" altLang="ko-KR" sz="1600" b="1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평가 플랫폼 다양화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위해서 기존의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종속 환경에서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server-client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구조로 변경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기존 코드는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만 사용 가능함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추론 코드 동작 구조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부터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받음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을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server (isaac-gr00t, openpi, lerobot)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전달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server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부터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값 받음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값을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전달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반복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G1 evaluation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617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23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G1 evaluation code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Gr00t</a:t>
            </a:r>
            <a:r>
              <a:rPr lang="ko-KR" altLang="en-US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n17 </a:t>
            </a:r>
            <a:r>
              <a:rPr lang="ko-KR" altLang="en-US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기반 평가 환경 구축</a:t>
            </a:r>
            <a:endParaRPr lang="en-US" altLang="ko-KR" sz="1600" b="1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가이드 작성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추후에 다른 연구원도 사용 가능하도록 함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instruction vs Long instruction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을 자세하게 작성하는 것이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성공에 도움을 주는지 확인 목적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1epoch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이전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gr00t _n17 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평가 기준으로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instruction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instruction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보다 더  잘 동작하였음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아마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gr00t_n17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instruction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되었기 때문일수도 있음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추가 </a:t>
            </a:r>
            <a:r>
              <a:rPr lang="en-US" altLang="ko-KR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finetuning</a:t>
            </a:r>
            <a:r>
              <a:rPr lang="ko-KR" altLang="en-US" sz="16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성능 확인해야 됨</a:t>
            </a:r>
            <a:endParaRPr lang="en-US" altLang="ko-KR" sz="16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G1 evaluation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552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24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G1 evaluation code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8FE6D-A0DA-B751-264D-75C9FC78CC81}"/>
              </a:ext>
            </a:extLst>
          </p:cNvPr>
          <p:cNvSpPr txBox="1"/>
          <p:nvPr/>
        </p:nvSpPr>
        <p:spPr>
          <a:xfrm>
            <a:off x="309595" y="1522138"/>
            <a:ext cx="8454395" cy="2961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Unitree lerobot official github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코드에 이미지 처리 관련 오류가 있었음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전달되는 이미지는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BRG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임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Unitree format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lerobot format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으로 변환시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BRG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바꿔줌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추론 코드에는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BRG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바꾸는 코드가 누락되었음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추측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코드를 바꾸는 과정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중 발생했을 수 있음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버전이 바뀌면서 전달 방식이나 코드 일부가 수정되었을 수 있음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이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년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월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일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branch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수정때 해결되었음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G1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추론 코드에 </a:t>
            </a:r>
            <a:r>
              <a:rPr lang="en-US" altLang="ko-KR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BRG2RGB </a:t>
            </a:r>
            <a:r>
              <a:rPr lang="ko-KR" altLang="en-US" sz="140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코드 추가하여 수정</a:t>
            </a:r>
            <a:endParaRPr lang="en-US" altLang="ko-KR" sz="1400">
              <a:solidFill>
                <a:srgbClr val="0F0F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G1 evaluation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973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270491" y="3075057"/>
            <a:ext cx="26030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b="1" dirty="0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 You</a:t>
            </a:r>
            <a:endParaRPr lang="ko-KR" altLang="en-US" sz="40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F2493E0-7484-4191-B25A-2BA9D146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08B6F078-8E08-4C34-A9F6-B27104B5D948}" type="slidenum">
              <a:rPr lang="ko-KR" altLang="en-US" sz="1400" smtClean="0"/>
              <a:t>25</a:t>
            </a:fld>
            <a:endParaRPr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92D70B-3201-4151-AA3E-05521430B432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822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65453" y="1263674"/>
            <a:ext cx="8568952" cy="5022107"/>
          </a:xfrm>
          <a:prstGeom prst="rect">
            <a:avLst/>
          </a:prstGeom>
          <a:noFill/>
          <a:ln w="12700">
            <a:solidFill>
              <a:srgbClr val="9696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C45146-FA7A-40AF-B02C-709EABC2E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F078-8E08-4C34-A9F6-B27104B5D948}" type="slidenum">
              <a:rPr lang="ko-KR" altLang="en-US" sz="1400" smtClean="0"/>
              <a:t>26</a:t>
            </a:fld>
            <a:endParaRPr lang="ko-KR" altLang="en-US" sz="1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ECEC614-E139-4942-B46C-771334116C35}"/>
              </a:ext>
            </a:extLst>
          </p:cNvPr>
          <p:cNvSpPr/>
          <p:nvPr/>
        </p:nvSpPr>
        <p:spPr>
          <a:xfrm>
            <a:off x="-7876" y="6676408"/>
            <a:ext cx="9151876" cy="181591"/>
          </a:xfrm>
          <a:prstGeom prst="rect">
            <a:avLst/>
          </a:prstGeom>
          <a:solidFill>
            <a:srgbClr val="029AD9"/>
          </a:solidFill>
          <a:ln>
            <a:solidFill>
              <a:srgbClr val="029A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71CC584-5938-4821-B2BB-3059B668F9BF}"/>
              </a:ext>
            </a:extLst>
          </p:cNvPr>
          <p:cNvGrpSpPr/>
          <p:nvPr/>
        </p:nvGrpSpPr>
        <p:grpSpPr>
          <a:xfrm>
            <a:off x="0" y="836712"/>
            <a:ext cx="9144000" cy="65232"/>
            <a:chOff x="0" y="692696"/>
            <a:chExt cx="9144000" cy="110681"/>
          </a:xfrm>
          <a:solidFill>
            <a:srgbClr val="029AD9"/>
          </a:solidFill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619ADF-CB03-41E0-A450-A3BBAE90911F}"/>
                </a:ext>
              </a:extLst>
            </p:cNvPr>
            <p:cNvSpPr/>
            <p:nvPr/>
          </p:nvSpPr>
          <p:spPr>
            <a:xfrm>
              <a:off x="0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C0E78E-7C26-4581-B2E1-FFC647847A0D}"/>
                </a:ext>
              </a:extLst>
            </p:cNvPr>
            <p:cNvSpPr/>
            <p:nvPr/>
          </p:nvSpPr>
          <p:spPr>
            <a:xfrm>
              <a:off x="2339752" y="692696"/>
              <a:ext cx="2160240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932AC9FD-986A-4400-8888-AE414125A691}"/>
                </a:ext>
              </a:extLst>
            </p:cNvPr>
            <p:cNvSpPr/>
            <p:nvPr/>
          </p:nvSpPr>
          <p:spPr>
            <a:xfrm>
              <a:off x="4499992" y="692696"/>
              <a:ext cx="2339752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6706EC-F3A7-4EBA-8689-1B320044AC04}"/>
                </a:ext>
              </a:extLst>
            </p:cNvPr>
            <p:cNvSpPr/>
            <p:nvPr/>
          </p:nvSpPr>
          <p:spPr>
            <a:xfrm>
              <a:off x="6839744" y="692696"/>
              <a:ext cx="2304256" cy="110681"/>
            </a:xfrm>
            <a:prstGeom prst="rect">
              <a:avLst/>
            </a:prstGeom>
            <a:grpFill/>
            <a:ln>
              <a:solidFill>
                <a:srgbClr val="029A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모서리가 둥근 직사각형 11">
            <a:extLst>
              <a:ext uri="{FF2B5EF4-FFF2-40B4-BE49-F238E27FC236}">
                <a16:creationId xmlns:a16="http://schemas.microsoft.com/office/drawing/2014/main" id="{9DFEBEF2-BEA4-166B-2370-05F2585A16F0}"/>
              </a:ext>
            </a:extLst>
          </p:cNvPr>
          <p:cNvSpPr/>
          <p:nvPr/>
        </p:nvSpPr>
        <p:spPr>
          <a:xfrm>
            <a:off x="513674" y="1063619"/>
            <a:ext cx="4598081" cy="40011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b="1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T-sne, umap</a:t>
            </a:r>
            <a:endParaRPr lang="ko-KR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0EADE-59D4-FD0F-8353-A05217912ED1}"/>
              </a:ext>
            </a:extLst>
          </p:cNvPr>
          <p:cNvSpPr txBox="1"/>
          <p:nvPr/>
        </p:nvSpPr>
        <p:spPr>
          <a:xfrm>
            <a:off x="112762" y="210100"/>
            <a:ext cx="4777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Appendix</a:t>
            </a:r>
            <a:endParaRPr lang="ko-KR" altLang="en-US" sz="2400" b="1" dirty="0"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884A8E6-689B-3C73-DEF7-3AFF5A22C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781" y="1568781"/>
            <a:ext cx="2407192" cy="461194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E786AC84-2EFD-17A8-535C-97FE02740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737" y="1568781"/>
            <a:ext cx="2407192" cy="461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9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10855</TotalTime>
  <Words>872</Words>
  <Application>Microsoft Office PowerPoint</Application>
  <PresentationFormat>화면 슬라이드 쇼(4:3)</PresentationFormat>
  <Paragraphs>184</Paragraphs>
  <Slides>26</Slides>
  <Notes>21</Notes>
  <HiddenSlides>0</HiddenSlides>
  <MMClips>12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Times New Roman</vt:lpstr>
      <vt:lpstr>Calibri Light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sung don</dc:creator>
  <cp:lastModifiedBy>재호 신</cp:lastModifiedBy>
  <cp:revision>1089</cp:revision>
  <dcterms:created xsi:type="dcterms:W3CDTF">2023-11-18T11:43:47Z</dcterms:created>
  <dcterms:modified xsi:type="dcterms:W3CDTF">2026-05-21T07:59:51Z</dcterms:modified>
</cp:coreProperties>
</file>